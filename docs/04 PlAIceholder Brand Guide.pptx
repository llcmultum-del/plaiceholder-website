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rand" id="{d3ef8eff-3463-0216-080b-5ad04547e7ce}">
          <p14:sldIdLst>
            <p14:sldId id="256"/>
            <p14:sldId id="257"/>
            <p14:sldId id="258"/>
            <p14:sldId id="259"/>
          </p14:sldIdLst>
        </p14:section>
        <p14:section name="Color" id="{ee4c1af2-b061-7cfd-b3ee-b18965527964}">
          <p14:sldIdLst>
            <p14:sldId id="260"/>
            <p14:sldId id="261"/>
            <p14:sldId id="262"/>
          </p14:sldIdLst>
        </p14:section>
        <p14:section name="Type and components" id="{18e965a3-08c9-7213-d833-8e1477fddf1c}">
          <p14:sldIdLst>
            <p14:sldId id="263"/>
            <p14:sldId id="264"/>
            <p14:sldId id="265"/>
          </p14:sldIdLst>
        </p14:section>
        <p14:section name="Voice" id="{a629d99d-680d-ff21-12d3-27362dd2ac29}">
          <p14:sldIdLst>
            <p14:sldId id="266"/>
            <p14:sldId id="267"/>
            <p14:sldId id="268"/>
            <p14:sldId id="269"/>
          </p14:sldIdLst>
        </p14:section>
        <p14:section name="Use" id="{ed433889-e9ba-a9fc-7304-6a6097cf3e52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PlAIceholder  ·  Brand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NT">
    <p:bg>
      <p:bgPr>
        <a:solidFill>
          <a:srgbClr val="F4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PlAIceholder  ·  Brand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 wordmark" descr="PlAIceholder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3108960" cy="403013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Brand Guide</a:t>
            </a:r>
            <a:endParaRPr lang="en-US" sz="5400" dirty="0"/>
          </a:p>
        </p:txBody>
      </p:sp>
      <p:sp>
        <p:nvSpPr>
          <p:cNvPr id="4" name="Cover subtitle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Name, logo, color, type, components and voice</a:t>
            </a:r>
            <a:endParaRPr lang="en-US" sz="1800" dirty="0"/>
          </a:p>
        </p:txBody>
      </p:sp>
      <p:sp>
        <p:nvSpPr>
          <p:cNvPr id="5" name="Cover badge shape"/>
          <p:cNvSpPr/>
          <p:nvPr/>
        </p:nvSpPr>
        <p:spPr>
          <a:xfrm>
            <a:off x="548640" y="333756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Cover badge"/>
          <p:cNvSpPr txBox="1"/>
          <p:nvPr/>
        </p:nvSpPr>
        <p:spPr>
          <a:xfrm>
            <a:off x="54864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Version 1.1  ·  matched to plaiceholder.io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name puts AI at the center</a:t>
            </a:r>
            <a:endParaRPr lang="en-US" sz="3000" dirty="0"/>
          </a:p>
        </p:txBody>
      </p:sp>
      <p:sp>
        <p:nvSpPr>
          <p:cNvPr id="3" name="Name card"/>
          <p:cNvSpPr/>
          <p:nvPr/>
        </p:nvSpPr>
        <p:spPr>
          <a:xfrm>
            <a:off x="457200" y="1143000"/>
            <a:ext cx="4937760" cy="2011680"/>
          </a:xfrm>
          <a:prstGeom prst="roundRect">
            <a:avLst>
              <a:gd name="adj" fmla="val 6364"/>
            </a:avLst>
          </a:prstGeom>
          <a:solidFill>
            <a:srgbClr val="F4FDF8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4" name="Name wordmark" descr="PlAIceholder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4206240" cy="545253"/>
          </a:xfrm>
          <a:prstGeom prst="rect">
            <a:avLst/>
          </a:prstGeom>
        </p:spPr>
      </p:pic>
      <p:sp>
        <p:nvSpPr>
          <p:cNvPr id="5" name="Spelling"/>
          <p:cNvSpPr txBox="1"/>
          <p:nvPr/>
        </p:nvSpPr>
        <p:spPr>
          <a:xfrm>
            <a:off x="77724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65"/>
                </a:solidFill>
              </a:rPr>
              <a:t>Capital P · lowercase l · capital AI · lowercase ceholder</a:t>
            </a:r>
            <a:endParaRPr lang="en-US" sz="1400" dirty="0"/>
          </a:p>
        </p:txBody>
      </p:sp>
      <p:sp>
        <p:nvSpPr>
          <p:cNvPr id="6" name="Meaning"/>
          <p:cNvSpPr txBox="1"/>
          <p:nvPr/>
        </p:nvSpPr>
        <p:spPr>
          <a:xfrm>
            <a:off x="457200" y="3383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1B2A"/>
                </a:solidFill>
              </a:rPr>
              <a:t>We fill the places in your week that are waiting for AI.</a:t>
            </a:r>
            <a:endParaRPr lang="en-US" sz="1600" dirty="0"/>
          </a:p>
        </p:txBody>
      </p:sp>
      <p:sp>
        <p:nvSpPr>
          <p:cNvPr id="7" name="Domain"/>
          <p:cNvSpPr txBox="1"/>
          <p:nvPr/>
        </p:nvSpPr>
        <p:spPr>
          <a:xfrm>
            <a:off x="45720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0"/>
                </a:solidFill>
              </a:rPr>
              <a:t>plaiceholder.io: lowercase in URLs and email</a:t>
            </a:r>
            <a:endParaRPr lang="en-US" sz="1400" dirty="0"/>
          </a:p>
        </p:txBody>
      </p:sp>
      <p:sp>
        <p:nvSpPr>
          <p:cNvPr id="8" name="Never"/>
          <p:cNvSpPr txBox="1"/>
          <p:nvPr/>
        </p:nvSpPr>
        <p:spPr>
          <a:xfrm>
            <a:off x="576072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Never write it as</a:t>
            </a:r>
            <a:endParaRPr lang="en-US" sz="1400" dirty="0"/>
          </a:p>
        </p:txBody>
      </p:sp>
      <p:sp>
        <p:nvSpPr>
          <p:cNvPr id="9" name="Wrong card 1"/>
          <p:cNvSpPr/>
          <p:nvPr/>
        </p:nvSpPr>
        <p:spPr>
          <a:xfrm>
            <a:off x="5760720" y="1554480"/>
            <a:ext cx="2926080" cy="502920"/>
          </a:xfrm>
          <a:prstGeom prst="roundRect">
            <a:avLst>
              <a:gd name="adj" fmla="val 25455"/>
            </a:avLst>
          </a:prstGeom>
          <a:solidFill>
            <a:srgbClr val="FBECEA"/>
          </a:solidFill>
          <a:ln w="12700">
            <a:solidFill>
              <a:srgbClr val="F3D2CC"/>
            </a:solidFill>
            <a:prstDash val="solid"/>
          </a:ln>
        </p:spPr>
      </p:sp>
      <p:sp>
        <p:nvSpPr>
          <p:cNvPr id="10" name="Wrong 1"/>
          <p:cNvSpPr txBox="1"/>
          <p:nvPr/>
        </p:nvSpPr>
        <p:spPr>
          <a:xfrm>
            <a:off x="594360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600" strike="sngStrike" dirty="0">
                <a:solidFill>
                  <a:srgbClr val="1A2E20"/>
                </a:solidFill>
              </a:rPr>
              <a:t>Plaiceholder</a:t>
            </a:r>
            <a:endParaRPr lang="en-US" sz="1600" dirty="0"/>
          </a:p>
        </p:txBody>
      </p:sp>
      <p:sp>
        <p:nvSpPr>
          <p:cNvPr id="11" name="Wrong card 2"/>
          <p:cNvSpPr/>
          <p:nvPr/>
        </p:nvSpPr>
        <p:spPr>
          <a:xfrm>
            <a:off x="5760720" y="2176272"/>
            <a:ext cx="2926080" cy="502920"/>
          </a:xfrm>
          <a:prstGeom prst="roundRect">
            <a:avLst>
              <a:gd name="adj" fmla="val 25455"/>
            </a:avLst>
          </a:prstGeom>
          <a:solidFill>
            <a:srgbClr val="FBECEA"/>
          </a:solidFill>
          <a:ln w="12700">
            <a:solidFill>
              <a:srgbClr val="F3D2CC"/>
            </a:solidFill>
            <a:prstDash val="solid"/>
          </a:ln>
        </p:spPr>
      </p:sp>
      <p:sp>
        <p:nvSpPr>
          <p:cNvPr id="12" name="Wrong 2"/>
          <p:cNvSpPr txBox="1"/>
          <p:nvPr/>
        </p:nvSpPr>
        <p:spPr>
          <a:xfrm>
            <a:off x="5943600" y="21762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600" strike="sngStrike" dirty="0">
                <a:solidFill>
                  <a:srgbClr val="1A2E20"/>
                </a:solidFill>
              </a:rPr>
              <a:t>PlaiceHolder</a:t>
            </a:r>
            <a:endParaRPr lang="en-US" sz="1600" dirty="0"/>
          </a:p>
        </p:txBody>
      </p:sp>
      <p:sp>
        <p:nvSpPr>
          <p:cNvPr id="13" name="Wrong card 3"/>
          <p:cNvSpPr/>
          <p:nvPr/>
        </p:nvSpPr>
        <p:spPr>
          <a:xfrm>
            <a:off x="5760720" y="2798064"/>
            <a:ext cx="2926080" cy="502920"/>
          </a:xfrm>
          <a:prstGeom prst="roundRect">
            <a:avLst>
              <a:gd name="adj" fmla="val 25455"/>
            </a:avLst>
          </a:prstGeom>
          <a:solidFill>
            <a:srgbClr val="FBECEA"/>
          </a:solidFill>
          <a:ln w="12700">
            <a:solidFill>
              <a:srgbClr val="F3D2CC"/>
            </a:solidFill>
            <a:prstDash val="solid"/>
          </a:ln>
        </p:spPr>
      </p:sp>
      <p:sp>
        <p:nvSpPr>
          <p:cNvPr id="14" name="Wrong 3"/>
          <p:cNvSpPr txBox="1"/>
          <p:nvPr/>
        </p:nvSpPr>
        <p:spPr>
          <a:xfrm>
            <a:off x="5943600" y="27980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600" strike="sngStrike" dirty="0">
                <a:solidFill>
                  <a:srgbClr val="1A2E20"/>
                </a:solidFill>
              </a:rPr>
              <a:t>PLAICEHOLDER</a:t>
            </a:r>
            <a:endParaRPr lang="en-US" sz="1600" dirty="0"/>
          </a:p>
        </p:txBody>
      </p:sp>
      <p:sp>
        <p:nvSpPr>
          <p:cNvPr id="15" name="Wrong card 4"/>
          <p:cNvSpPr/>
          <p:nvPr/>
        </p:nvSpPr>
        <p:spPr>
          <a:xfrm>
            <a:off x="5760720" y="3419856"/>
            <a:ext cx="2926080" cy="502920"/>
          </a:xfrm>
          <a:prstGeom prst="roundRect">
            <a:avLst>
              <a:gd name="adj" fmla="val 25455"/>
            </a:avLst>
          </a:prstGeom>
          <a:solidFill>
            <a:srgbClr val="FBECEA"/>
          </a:solidFill>
          <a:ln w="12700">
            <a:solidFill>
              <a:srgbClr val="F3D2CC"/>
            </a:solidFill>
            <a:prstDash val="solid"/>
          </a:ln>
        </p:spPr>
      </p:sp>
      <p:sp>
        <p:nvSpPr>
          <p:cNvPr id="16" name="Wrong 4"/>
          <p:cNvSpPr txBox="1"/>
          <p:nvPr/>
        </p:nvSpPr>
        <p:spPr>
          <a:xfrm>
            <a:off x="5943600" y="341985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600" strike="sngStrike" dirty="0">
                <a:solidFill>
                  <a:srgbClr val="1A2E20"/>
                </a:solidFill>
              </a:rPr>
              <a:t>Placeholder 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One wordmark, two fills, one icon</a:t>
            </a:r>
            <a:endParaRPr lang="en-US" sz="3000" dirty="0"/>
          </a:p>
        </p:txBody>
      </p:sp>
      <p:sp>
        <p:nvSpPr>
          <p:cNvPr id="3" name="Logo on white"/>
          <p:cNvSpPr/>
          <p:nvPr/>
        </p:nvSpPr>
        <p:spPr>
          <a:xfrm>
            <a:off x="457200" y="1143000"/>
            <a:ext cx="402336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4" name="Gradient wordmark" descr="PlAIceholder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3291840" cy="426720"/>
          </a:xfrm>
          <a:prstGeom prst="rect">
            <a:avLst/>
          </a:prstGeom>
        </p:spPr>
      </p:pic>
      <p:sp>
        <p:nvSpPr>
          <p:cNvPr id="5" name="Gradient use"/>
          <p:cNvSpPr txBox="1"/>
          <p:nvPr/>
        </p:nvSpPr>
        <p:spPr>
          <a:xfrm>
            <a:off x="45720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Gradient: nav bar, white and mint backgrounds</a:t>
            </a:r>
            <a:endParaRPr lang="en-US" sz="1100" dirty="0"/>
          </a:p>
        </p:txBody>
      </p:sp>
      <p:pic>
        <p:nvPicPr>
          <p:cNvPr id="6" name="Navy panel" descr="/home/claude/word/brand/dark_b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417320"/>
          </a:xfrm>
          <a:prstGeom prst="rect">
            <a:avLst/>
          </a:prstGeom>
        </p:spPr>
      </p:pic>
      <p:pic>
        <p:nvPicPr>
          <p:cNvPr id="7" name="White wordmark" descr="PlAIceholder word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54480"/>
            <a:ext cx="3291840" cy="426720"/>
          </a:xfrm>
          <a:prstGeom prst="rect">
            <a:avLst/>
          </a:prstGeom>
        </p:spPr>
      </p:pic>
      <p:sp>
        <p:nvSpPr>
          <p:cNvPr id="8" name="White use"/>
          <p:cNvSpPr txBox="1"/>
          <p:nvPr/>
        </p:nvSpPr>
        <p:spPr>
          <a:xfrm>
            <a:off x="466344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White: footer, gradient banners, photos</a:t>
            </a:r>
            <a:endParaRPr lang="en-US" sz="1100" dirty="0"/>
          </a:p>
        </p:txBody>
      </p:sp>
      <p:pic>
        <p:nvPicPr>
          <p:cNvPr id="9" name="Favicon" descr="/home/claude/word/brand/ic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54680"/>
            <a:ext cx="1143000" cy="1143000"/>
          </a:xfrm>
          <a:prstGeom prst="rect">
            <a:avLst/>
          </a:prstGeom>
        </p:spPr>
      </p:pic>
      <p:sp>
        <p:nvSpPr>
          <p:cNvPr id="10" name="Icon note"/>
          <p:cNvSpPr txBox="1"/>
          <p:nvPr/>
        </p:nvSpPr>
        <p:spPr>
          <a:xfrm>
            <a:off x="1783080" y="3291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0"/>
                </a:solidFill>
              </a:rPr>
              <a:t>Icon and favicon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7A65"/>
                </a:solidFill>
              </a:rPr>
              <a:t>Gradient circle, white A, weight 800</a:t>
            </a:r>
            <a:endParaRPr lang="en-US" sz="1400" dirty="0"/>
          </a:p>
        </p:txBody>
      </p:sp>
      <p:sp>
        <p:nvSpPr>
          <p:cNvPr id="11" name="Logo rules"/>
          <p:cNvSpPr txBox="1"/>
          <p:nvPr/>
        </p:nvSpPr>
        <p:spPr>
          <a:xfrm>
            <a:off x="4663440" y="31546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20"/>
                </a:solidFill>
              </a:rPr>
              <a:t>The whole word takes the gradient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7A65"/>
                </a:solidFill>
              </a:rPr>
              <a:t>Don't color the AI separately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2E20"/>
                </a:solidFill>
              </a:rPr>
              <a:t>Clear space and size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7A65"/>
                </a:solidFill>
              </a:rPr>
              <a:t>Height of the A on every side · 96 px minimum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ways not to use the logo</a:t>
            </a:r>
            <a:endParaRPr lang="en-US" sz="3000" dirty="0"/>
          </a:p>
        </p:txBody>
      </p:sp>
      <p:sp>
        <p:nvSpPr>
          <p:cNvPr id="3" name="Dont card 1"/>
          <p:cNvSpPr/>
          <p:nvPr/>
        </p:nvSpPr>
        <p:spPr>
          <a:xfrm>
            <a:off x="457200" y="118872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FBECEA"/>
          </a:solidFill>
          <a:ln w="12700">
            <a:solidFill>
              <a:srgbClr val="F3D2CC"/>
            </a:solidFill>
            <a:prstDash val="solid"/>
          </a:ln>
        </p:spPr>
      </p:sp>
      <p:pic>
        <p:nvPicPr>
          <p:cNvPr id="4" name="Dont image 1" descr="/home/claude/word/brand/dont_squ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81860"/>
            <a:ext cx="1645920" cy="116840"/>
          </a:xfrm>
          <a:prstGeom prst="rect">
            <a:avLst/>
          </a:prstGeom>
        </p:spPr>
      </p:pic>
      <p:sp>
        <p:nvSpPr>
          <p:cNvPr id="5" name="Dont label 1"/>
          <p:cNvSpPr txBox="1"/>
          <p:nvPr/>
        </p:nvSpPr>
        <p:spPr>
          <a:xfrm>
            <a:off x="45720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✕  </a:t>
            </a:r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Squashed or stretched</a:t>
            </a:r>
            <a:endParaRPr lang="en-US" sz="1300" dirty="0"/>
          </a:p>
        </p:txBody>
      </p:sp>
      <p:sp>
        <p:nvSpPr>
          <p:cNvPr id="6" name="Dont card 2"/>
          <p:cNvSpPr/>
          <p:nvPr/>
        </p:nvSpPr>
        <p:spPr>
          <a:xfrm>
            <a:off x="2560320" y="118872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FBECEA"/>
          </a:solidFill>
          <a:ln w="12700">
            <a:solidFill>
              <a:srgbClr val="F3D2CC"/>
            </a:solidFill>
            <a:prstDash val="solid"/>
          </a:ln>
        </p:spPr>
      </p:sp>
      <p:pic>
        <p:nvPicPr>
          <p:cNvPr id="7" name="Dont image 2" descr="/home/claude/word/brand/dont_effe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101906"/>
            <a:ext cx="1645920" cy="276748"/>
          </a:xfrm>
          <a:prstGeom prst="rect">
            <a:avLst/>
          </a:prstGeom>
        </p:spPr>
      </p:pic>
      <p:sp>
        <p:nvSpPr>
          <p:cNvPr id="8" name="Dont label 2"/>
          <p:cNvSpPr txBox="1"/>
          <p:nvPr/>
        </p:nvSpPr>
        <p:spPr>
          <a:xfrm>
            <a:off x="256032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✕  </a:t>
            </a:r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Shadows or glows</a:t>
            </a:r>
            <a:endParaRPr lang="en-US" sz="1300" dirty="0"/>
          </a:p>
        </p:txBody>
      </p:sp>
      <p:sp>
        <p:nvSpPr>
          <p:cNvPr id="9" name="Dont card 3"/>
          <p:cNvSpPr/>
          <p:nvPr/>
        </p:nvSpPr>
        <p:spPr>
          <a:xfrm>
            <a:off x="4663440" y="118872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FBECEA"/>
          </a:solidFill>
          <a:ln w="12700">
            <a:solidFill>
              <a:srgbClr val="F3D2CC"/>
            </a:solidFill>
            <a:prstDash val="solid"/>
          </a:ln>
        </p:spPr>
      </p:sp>
      <p:pic>
        <p:nvPicPr>
          <p:cNvPr id="10" name="Dont image 3" descr="/home/claude/word/brand/dont_cap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150828"/>
            <a:ext cx="1645920" cy="178904"/>
          </a:xfrm>
          <a:prstGeom prst="rect">
            <a:avLst/>
          </a:prstGeom>
        </p:spPr>
      </p:pic>
      <p:sp>
        <p:nvSpPr>
          <p:cNvPr id="11" name="Dont label 3"/>
          <p:cNvSpPr txBox="1"/>
          <p:nvPr/>
        </p:nvSpPr>
        <p:spPr>
          <a:xfrm>
            <a:off x="466344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✕  </a:t>
            </a:r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All capitals</a:t>
            </a:r>
            <a:endParaRPr lang="en-US" sz="1300" dirty="0"/>
          </a:p>
        </p:txBody>
      </p:sp>
      <p:sp>
        <p:nvSpPr>
          <p:cNvPr id="12" name="Dont card 4"/>
          <p:cNvSpPr/>
          <p:nvPr/>
        </p:nvSpPr>
        <p:spPr>
          <a:xfrm>
            <a:off x="6766560" y="118872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FBECEA"/>
          </a:solidFill>
          <a:ln w="12700">
            <a:solidFill>
              <a:srgbClr val="F3D2CC"/>
            </a:solidFill>
            <a:prstDash val="solid"/>
          </a:ln>
        </p:spPr>
      </p:sp>
      <p:pic>
        <p:nvPicPr>
          <p:cNvPr id="13" name="Dont image 4" descr="/home/claude/word/brand/dont_on_gradi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091956"/>
            <a:ext cx="1645920" cy="296648"/>
          </a:xfrm>
          <a:prstGeom prst="rect">
            <a:avLst/>
          </a:prstGeom>
        </p:spPr>
      </p:pic>
      <p:sp>
        <p:nvSpPr>
          <p:cNvPr id="14" name="Dont label 4"/>
          <p:cNvSpPr txBox="1"/>
          <p:nvPr/>
        </p:nvSpPr>
        <p:spPr>
          <a:xfrm>
            <a:off x="676656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✕  </a:t>
            </a:r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Gradient on gradient</a:t>
            </a:r>
            <a:endParaRPr lang="en-US" sz="1300" dirty="0"/>
          </a:p>
        </p:txBody>
      </p:sp>
      <p:sp>
        <p:nvSpPr>
          <p:cNvPr id="15" name="Dont note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65"/>
                </a:solidFill>
              </a:rPr>
              <a:t>On a gradient, a photo or anything busy, use the white wordmark.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gradient leads; navy and mint hold it up</a:t>
            </a:r>
            <a:endParaRPr lang="en-US" sz="3000" dirty="0"/>
          </a:p>
        </p:txBody>
      </p:sp>
      <p:pic>
        <p:nvPicPr>
          <p:cNvPr id="3" name="Gradient bar" descr="/home/claude/word/brand/grad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1188720"/>
          </a:xfrm>
          <a:prstGeom prst="rect">
            <a:avLst/>
          </a:prstGeom>
        </p:spPr>
      </p:pic>
      <p:sp>
        <p:nvSpPr>
          <p:cNvPr id="4" name="Stop Blue"/>
          <p:cNvSpPr txBox="1"/>
          <p:nvPr/>
        </p:nvSpPr>
        <p:spPr>
          <a:xfrm>
            <a:off x="68580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Blue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#1A6EF5</a:t>
            </a:r>
            <a:endParaRPr lang="en-US" sz="1400" dirty="0"/>
          </a:p>
        </p:txBody>
      </p:sp>
      <p:sp>
        <p:nvSpPr>
          <p:cNvPr id="5" name="Stop Sea"/>
          <p:cNvSpPr txBox="1"/>
          <p:nvPr/>
        </p:nvSpPr>
        <p:spPr>
          <a:xfrm>
            <a:off x="370332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Sea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#3EC9C9</a:t>
            </a:r>
            <a:endParaRPr lang="en-US" sz="1400" dirty="0"/>
          </a:p>
        </p:txBody>
      </p:sp>
      <p:sp>
        <p:nvSpPr>
          <p:cNvPr id="6" name="Stop Green"/>
          <p:cNvSpPr txBox="1"/>
          <p:nvPr/>
        </p:nvSpPr>
        <p:spPr>
          <a:xfrm>
            <a:off x="6720840" y="1417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Green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#2ECC71</a:t>
            </a:r>
            <a:endParaRPr lang="en-US" sz="1400" dirty="0"/>
          </a:p>
        </p:txBody>
      </p:sp>
      <p:sp>
        <p:nvSpPr>
          <p:cNvPr id="7" name="Navy swatch"/>
          <p:cNvSpPr/>
          <p:nvPr/>
        </p:nvSpPr>
        <p:spPr>
          <a:xfrm>
            <a:off x="457200" y="2560320"/>
            <a:ext cx="1261872" cy="1005840"/>
          </a:xfrm>
          <a:prstGeom prst="roundRect">
            <a:avLst>
              <a:gd name="adj" fmla="val 1272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Navy label"/>
          <p:cNvSpPr txBox="1"/>
          <p:nvPr/>
        </p:nvSpPr>
        <p:spPr>
          <a:xfrm>
            <a:off x="566928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Navy</a:t>
            </a:r>
            <a:endParaRPr lang="en-US" sz="1300" dirty="0"/>
          </a:p>
        </p:txBody>
      </p:sp>
      <p:sp>
        <p:nvSpPr>
          <p:cNvPr id="9" name="Navy hex"/>
          <p:cNvSpPr txBox="1"/>
          <p:nvPr/>
        </p:nvSpPr>
        <p:spPr>
          <a:xfrm>
            <a:off x="457200" y="36576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0"/>
                </a:solidFill>
              </a:rPr>
              <a:t>#0D1B2A</a:t>
            </a:r>
            <a:endParaRPr lang="en-US" sz="1100" dirty="0"/>
          </a:p>
        </p:txBody>
      </p:sp>
      <p:sp>
        <p:nvSpPr>
          <p:cNvPr id="10" name="Navy role"/>
          <p:cNvSpPr txBox="1"/>
          <p:nvPr/>
        </p:nvSpPr>
        <p:spPr>
          <a:xfrm>
            <a:off x="457200" y="3886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Headings, footer, dark sections</a:t>
            </a:r>
            <a:endParaRPr lang="en-US" sz="1000" dirty="0"/>
          </a:p>
        </p:txBody>
      </p:sp>
      <p:sp>
        <p:nvSpPr>
          <p:cNvPr id="11" name="Ink swatch"/>
          <p:cNvSpPr/>
          <p:nvPr/>
        </p:nvSpPr>
        <p:spPr>
          <a:xfrm>
            <a:off x="1856232" y="2560320"/>
            <a:ext cx="1261872" cy="1005840"/>
          </a:xfrm>
          <a:prstGeom prst="roundRect">
            <a:avLst>
              <a:gd name="adj" fmla="val 12727"/>
            </a:avLst>
          </a:prstGeom>
          <a:solidFill>
            <a:srgbClr val="1A2E20"/>
          </a:solidFill>
          <a:ln w="12700">
            <a:solidFill>
              <a:srgbClr val="1A2E20"/>
            </a:solidFill>
            <a:prstDash val="solid"/>
          </a:ln>
        </p:spPr>
      </p:sp>
      <p:sp>
        <p:nvSpPr>
          <p:cNvPr id="12" name="Ink label"/>
          <p:cNvSpPr txBox="1"/>
          <p:nvPr/>
        </p:nvSpPr>
        <p:spPr>
          <a:xfrm>
            <a:off x="196596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Ink</a:t>
            </a:r>
            <a:endParaRPr lang="en-US" sz="1300" dirty="0"/>
          </a:p>
        </p:txBody>
      </p:sp>
      <p:sp>
        <p:nvSpPr>
          <p:cNvPr id="13" name="Ink hex"/>
          <p:cNvSpPr txBox="1"/>
          <p:nvPr/>
        </p:nvSpPr>
        <p:spPr>
          <a:xfrm>
            <a:off x="1856232" y="36576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0"/>
                </a:solidFill>
              </a:rPr>
              <a:t>#1A2E20</a:t>
            </a:r>
            <a:endParaRPr lang="en-US" sz="1100" dirty="0"/>
          </a:p>
        </p:txBody>
      </p:sp>
      <p:sp>
        <p:nvSpPr>
          <p:cNvPr id="14" name="Ink role"/>
          <p:cNvSpPr txBox="1"/>
          <p:nvPr/>
        </p:nvSpPr>
        <p:spPr>
          <a:xfrm>
            <a:off x="1856232" y="3886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Body text</a:t>
            </a:r>
            <a:endParaRPr lang="en-US" sz="1000" dirty="0"/>
          </a:p>
        </p:txBody>
      </p:sp>
      <p:sp>
        <p:nvSpPr>
          <p:cNvPr id="15" name="Muted swatch"/>
          <p:cNvSpPr/>
          <p:nvPr/>
        </p:nvSpPr>
        <p:spPr>
          <a:xfrm>
            <a:off x="3255264" y="2560320"/>
            <a:ext cx="1261872" cy="1005840"/>
          </a:xfrm>
          <a:prstGeom prst="roundRect">
            <a:avLst>
              <a:gd name="adj" fmla="val 12727"/>
            </a:avLst>
          </a:prstGeom>
          <a:solidFill>
            <a:srgbClr val="5A7A65"/>
          </a:solidFill>
          <a:ln w="12700">
            <a:solidFill>
              <a:srgbClr val="5A7A65"/>
            </a:solidFill>
            <a:prstDash val="solid"/>
          </a:ln>
        </p:spPr>
      </p:sp>
      <p:sp>
        <p:nvSpPr>
          <p:cNvPr id="16" name="Muted label"/>
          <p:cNvSpPr txBox="1"/>
          <p:nvPr/>
        </p:nvSpPr>
        <p:spPr>
          <a:xfrm>
            <a:off x="3364992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Muted</a:t>
            </a:r>
            <a:endParaRPr lang="en-US" sz="1300" dirty="0"/>
          </a:p>
        </p:txBody>
      </p:sp>
      <p:sp>
        <p:nvSpPr>
          <p:cNvPr id="17" name="Muted hex"/>
          <p:cNvSpPr txBox="1"/>
          <p:nvPr/>
        </p:nvSpPr>
        <p:spPr>
          <a:xfrm>
            <a:off x="3255264" y="36576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0"/>
                </a:solidFill>
              </a:rPr>
              <a:t>#5A7A65</a:t>
            </a:r>
            <a:endParaRPr lang="en-US" sz="1100" dirty="0"/>
          </a:p>
        </p:txBody>
      </p:sp>
      <p:sp>
        <p:nvSpPr>
          <p:cNvPr id="18" name="Muted role"/>
          <p:cNvSpPr txBox="1"/>
          <p:nvPr/>
        </p:nvSpPr>
        <p:spPr>
          <a:xfrm>
            <a:off x="3255264" y="3886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Secondary text</a:t>
            </a:r>
            <a:endParaRPr lang="en-US" sz="1000" dirty="0"/>
          </a:p>
        </p:txBody>
      </p:sp>
      <p:sp>
        <p:nvSpPr>
          <p:cNvPr id="19" name="Mint swatch"/>
          <p:cNvSpPr/>
          <p:nvPr/>
        </p:nvSpPr>
        <p:spPr>
          <a:xfrm>
            <a:off x="4654296" y="2560320"/>
            <a:ext cx="1261872" cy="1005840"/>
          </a:xfrm>
          <a:prstGeom prst="roundRect">
            <a:avLst>
              <a:gd name="adj" fmla="val 12727"/>
            </a:avLst>
          </a:prstGeom>
          <a:solidFill>
            <a:srgbClr val="F4FDF8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20" name="Mint label"/>
          <p:cNvSpPr txBox="1"/>
          <p:nvPr/>
        </p:nvSpPr>
        <p:spPr>
          <a:xfrm>
            <a:off x="4764024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Mint</a:t>
            </a:r>
            <a:endParaRPr lang="en-US" sz="1300" dirty="0"/>
          </a:p>
        </p:txBody>
      </p:sp>
      <p:sp>
        <p:nvSpPr>
          <p:cNvPr id="21" name="Mint hex"/>
          <p:cNvSpPr txBox="1"/>
          <p:nvPr/>
        </p:nvSpPr>
        <p:spPr>
          <a:xfrm>
            <a:off x="4654296" y="36576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0"/>
                </a:solidFill>
              </a:rPr>
              <a:t>#F4FDF8</a:t>
            </a:r>
            <a:endParaRPr lang="en-US" sz="1100" dirty="0"/>
          </a:p>
        </p:txBody>
      </p:sp>
      <p:sp>
        <p:nvSpPr>
          <p:cNvPr id="22" name="Mint role"/>
          <p:cNvSpPr txBox="1"/>
          <p:nvPr/>
        </p:nvSpPr>
        <p:spPr>
          <a:xfrm>
            <a:off x="4654296" y="3886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Page background</a:t>
            </a:r>
            <a:endParaRPr lang="en-US" sz="1000" dirty="0"/>
          </a:p>
        </p:txBody>
      </p:sp>
      <p:sp>
        <p:nvSpPr>
          <p:cNvPr id="23" name="White swatch"/>
          <p:cNvSpPr/>
          <p:nvPr/>
        </p:nvSpPr>
        <p:spPr>
          <a:xfrm>
            <a:off x="6053328" y="2560320"/>
            <a:ext cx="126187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24" name="White label"/>
          <p:cNvSpPr txBox="1"/>
          <p:nvPr/>
        </p:nvSpPr>
        <p:spPr>
          <a:xfrm>
            <a:off x="6163056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White</a:t>
            </a:r>
            <a:endParaRPr lang="en-US" sz="1300" dirty="0"/>
          </a:p>
        </p:txBody>
      </p:sp>
      <p:sp>
        <p:nvSpPr>
          <p:cNvPr id="25" name="White hex"/>
          <p:cNvSpPr txBox="1"/>
          <p:nvPr/>
        </p:nvSpPr>
        <p:spPr>
          <a:xfrm>
            <a:off x="6053328" y="36576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0"/>
                </a:solidFill>
              </a:rPr>
              <a:t>#FFFFFF</a:t>
            </a:r>
            <a:endParaRPr lang="en-US" sz="1100" dirty="0"/>
          </a:p>
        </p:txBody>
      </p:sp>
      <p:sp>
        <p:nvSpPr>
          <p:cNvPr id="26" name="White role"/>
          <p:cNvSpPr txBox="1"/>
          <p:nvPr/>
        </p:nvSpPr>
        <p:spPr>
          <a:xfrm>
            <a:off x="6053328" y="3886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Cards, nav bar</a:t>
            </a:r>
            <a:endParaRPr lang="en-US" sz="1000" dirty="0"/>
          </a:p>
        </p:txBody>
      </p:sp>
      <p:sp>
        <p:nvSpPr>
          <p:cNvPr id="27" name="Border swatch"/>
          <p:cNvSpPr/>
          <p:nvPr/>
        </p:nvSpPr>
        <p:spPr>
          <a:xfrm>
            <a:off x="7452360" y="2560320"/>
            <a:ext cx="1261872" cy="1005840"/>
          </a:xfrm>
          <a:prstGeom prst="roundRect">
            <a:avLst>
              <a:gd name="adj" fmla="val 12727"/>
            </a:avLst>
          </a:prstGeom>
          <a:solidFill>
            <a:srgbClr val="DCF5F5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28" name="Border label"/>
          <p:cNvSpPr txBox="1"/>
          <p:nvPr/>
        </p:nvSpPr>
        <p:spPr>
          <a:xfrm>
            <a:off x="7562088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20"/>
                </a:solidFill>
              </a:rPr>
              <a:t>Border</a:t>
            </a:r>
            <a:endParaRPr lang="en-US" sz="1300" dirty="0"/>
          </a:p>
        </p:txBody>
      </p:sp>
      <p:sp>
        <p:nvSpPr>
          <p:cNvPr id="29" name="Border hex"/>
          <p:cNvSpPr txBox="1"/>
          <p:nvPr/>
        </p:nvSpPr>
        <p:spPr>
          <a:xfrm>
            <a:off x="7452360" y="3657600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0"/>
                </a:solidFill>
              </a:rPr>
              <a:t>#DCF5F5</a:t>
            </a:r>
            <a:endParaRPr lang="en-US" sz="1100" dirty="0"/>
          </a:p>
        </p:txBody>
      </p:sp>
      <p:sp>
        <p:nvSpPr>
          <p:cNvPr id="30" name="Border role"/>
          <p:cNvSpPr txBox="1"/>
          <p:nvPr/>
        </p:nvSpPr>
        <p:spPr>
          <a:xfrm>
            <a:off x="7452360" y="38862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Sea at 18%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Two gradients and four badges</a:t>
            </a:r>
            <a:endParaRPr lang="en-US" sz="3000" dirty="0"/>
          </a:p>
        </p:txBody>
      </p:sp>
      <p:pic>
        <p:nvPicPr>
          <p:cNvPr id="3" name="Brand gradient sample" descr="/home/claude/word/brand/grad_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1920240" cy="1417320"/>
          </a:xfrm>
          <a:prstGeom prst="rect">
            <a:avLst/>
          </a:prstGeom>
        </p:spPr>
      </p:pic>
      <p:sp>
        <p:nvSpPr>
          <p:cNvPr id="4" name="Brand gradient note"/>
          <p:cNvSpPr txBox="1"/>
          <p:nvPr/>
        </p:nvSpPr>
        <p:spPr>
          <a:xfrm>
            <a:off x="2560320" y="11887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0"/>
                </a:solidFill>
              </a:rPr>
              <a:t>Brand gradient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135°  #1A6EF5 → #3EC9C9 → #2ECC71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Banners (with dot pattern), primary buttons, wordmark, icons</a:t>
            </a:r>
            <a:endParaRPr lang="en-US" sz="1100" dirty="0"/>
          </a:p>
        </p:txBody>
      </p:sp>
      <p:pic>
        <p:nvPicPr>
          <p:cNvPr id="5" name="Dark gradient sample" descr="/home/claude/word/brand/dark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1920240" cy="1417320"/>
          </a:xfrm>
          <a:prstGeom prst="rect">
            <a:avLst/>
          </a:prstGeom>
        </p:spPr>
      </p:pic>
      <p:sp>
        <p:nvSpPr>
          <p:cNvPr id="6" name="Dark gradient note"/>
          <p:cNvSpPr txBox="1"/>
          <p:nvPr/>
        </p:nvSpPr>
        <p:spPr>
          <a:xfrm>
            <a:off x="6766560" y="118872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20"/>
                </a:solidFill>
              </a:rPr>
              <a:t>Dark gradient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135°  #0D1B2A → #1A3A5C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Dark panels and feature blocks</a:t>
            </a:r>
            <a:endParaRPr lang="en-US" sz="1100" dirty="0"/>
          </a:p>
        </p:txBody>
      </p:sp>
      <p:sp>
        <p:nvSpPr>
          <p:cNvPr id="7" name="Badge card"/>
          <p:cNvSpPr/>
          <p:nvPr/>
        </p:nvSpPr>
        <p:spPr>
          <a:xfrm>
            <a:off x="457200" y="2834640"/>
            <a:ext cx="82296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8" name="Badge head"/>
          <p:cNvSpPr txBox="1"/>
          <p:nvPr/>
        </p:nvSpPr>
        <p:spPr>
          <a:xfrm>
            <a:off x="6858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Badges on agent cards</a:t>
            </a:r>
            <a:endParaRPr lang="en-US" sz="1300" dirty="0"/>
          </a:p>
        </p:txBody>
      </p:sp>
      <p:sp>
        <p:nvSpPr>
          <p:cNvPr id="9" name="Badge area shape"/>
          <p:cNvSpPr/>
          <p:nvPr/>
        </p:nvSpPr>
        <p:spPr>
          <a:xfrm>
            <a:off x="685800" y="338328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4FDF8"/>
          </a:solidFill>
          <a:ln w="12700">
            <a:solidFill>
              <a:srgbClr val="F4FDF8"/>
            </a:solidFill>
            <a:prstDash val="solid"/>
          </a:ln>
        </p:spPr>
      </p:sp>
      <p:sp>
        <p:nvSpPr>
          <p:cNvPr id="10" name="Badge area"/>
          <p:cNvSpPr txBox="1"/>
          <p:nvPr/>
        </p:nvSpPr>
        <p:spPr>
          <a:xfrm>
            <a:off x="685800" y="3383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7A65"/>
                </a:solidFill>
              </a:rPr>
              <a:t>Sales</a:t>
            </a:r>
            <a:endParaRPr lang="en-US" sz="1100" dirty="0"/>
          </a:p>
        </p:txBody>
      </p:sp>
      <p:sp>
        <p:nvSpPr>
          <p:cNvPr id="11" name="Badge tier shape"/>
          <p:cNvSpPr/>
          <p:nvPr/>
        </p:nvSpPr>
        <p:spPr>
          <a:xfrm>
            <a:off x="1600200" y="33832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CF3FE"/>
          </a:solidFill>
          <a:ln w="12700">
            <a:solidFill>
              <a:srgbClr val="ECF3FE"/>
            </a:solidFill>
            <a:prstDash val="solid"/>
          </a:ln>
        </p:spPr>
      </p:sp>
      <p:sp>
        <p:nvSpPr>
          <p:cNvPr id="12" name="Badge tier"/>
          <p:cNvSpPr txBox="1"/>
          <p:nvPr/>
        </p:nvSpPr>
        <p:spPr>
          <a:xfrm>
            <a:off x="1600200" y="3383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EF5"/>
                </a:solidFill>
              </a:rPr>
              <a:t>Advanced</a:t>
            </a:r>
            <a:endParaRPr lang="en-US" sz="1100" dirty="0"/>
          </a:p>
        </p:txBody>
      </p:sp>
      <p:sp>
        <p:nvSpPr>
          <p:cNvPr id="13" name="Badge ready shape"/>
          <p:cNvSpPr/>
          <p:nvPr/>
        </p:nvSpPr>
        <p:spPr>
          <a:xfrm>
            <a:off x="2743200" y="338328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E4F9EE"/>
          </a:solidFill>
          <a:ln w="12700">
            <a:solidFill>
              <a:srgbClr val="E4F9EE"/>
            </a:solidFill>
            <a:prstDash val="solid"/>
          </a:ln>
        </p:spPr>
      </p:sp>
      <p:sp>
        <p:nvSpPr>
          <p:cNvPr id="14" name="Badge ready"/>
          <p:cNvSpPr txBox="1"/>
          <p:nvPr/>
        </p:nvSpPr>
        <p:spPr>
          <a:xfrm>
            <a:off x="2743200" y="33832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5"/>
                </a:solidFill>
              </a:rPr>
              <a:t>Ready now</a:t>
            </a:r>
            <a:endParaRPr lang="en-US" sz="1100" dirty="0"/>
          </a:p>
        </p:txBody>
      </p:sp>
      <p:sp>
        <p:nvSpPr>
          <p:cNvPr id="15" name="Badge available shape"/>
          <p:cNvSpPr/>
          <p:nvPr/>
        </p:nvSpPr>
        <p:spPr>
          <a:xfrm>
            <a:off x="3931920" y="33832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CFAFA"/>
          </a:solidFill>
          <a:ln w="12700">
            <a:solidFill>
              <a:srgbClr val="ECFAFA"/>
            </a:solidFill>
            <a:prstDash val="solid"/>
          </a:ln>
        </p:spPr>
      </p:sp>
      <p:sp>
        <p:nvSpPr>
          <p:cNvPr id="16" name="Badge available"/>
          <p:cNvSpPr txBox="1"/>
          <p:nvPr/>
        </p:nvSpPr>
        <p:spPr>
          <a:xfrm>
            <a:off x="3931920" y="3383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A6A"/>
                </a:solidFill>
              </a:rPr>
              <a:t>Available</a:t>
            </a:r>
            <a:endParaRPr lang="en-US" sz="1100" dirty="0"/>
          </a:p>
        </p:txBody>
      </p:sp>
      <p:sp>
        <p:nvSpPr>
          <p:cNvPr id="17" name="Badge note"/>
          <p:cNvSpPr txBox="1"/>
          <p:nvPr/>
        </p:nvSpPr>
        <p:spPr>
          <a:xfrm>
            <a:off x="68580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Area · Tier · Ready · Available: dark text on a light tint of the same hue</a:t>
            </a:r>
            <a:endParaRPr lang="en-US" sz="1100" dirty="0"/>
          </a:p>
        </p:txBody>
      </p:sp>
      <p:sp>
        <p:nvSpPr>
          <p:cNvPr id="18" name="Status head"/>
          <p:cNvSpPr txBox="1"/>
          <p:nvPr/>
        </p:nvSpPr>
        <p:spPr>
          <a:xfrm>
            <a:off x="539496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Dashboards only (proposed)</a:t>
            </a:r>
            <a:endParaRPr lang="en-US" sz="1300" dirty="0"/>
          </a:p>
        </p:txBody>
      </p:sp>
      <p:sp>
        <p:nvSpPr>
          <p:cNvPr id="19" name="Status low shape"/>
          <p:cNvSpPr/>
          <p:nvPr/>
        </p:nvSpPr>
        <p:spPr>
          <a:xfrm>
            <a:off x="5394960" y="33832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4F9EE"/>
          </a:solidFill>
          <a:ln w="12700">
            <a:solidFill>
              <a:srgbClr val="E4F9EE"/>
            </a:solidFill>
            <a:prstDash val="solid"/>
          </a:ln>
        </p:spPr>
      </p:sp>
      <p:sp>
        <p:nvSpPr>
          <p:cNvPr id="20" name="Status low"/>
          <p:cNvSpPr txBox="1"/>
          <p:nvPr/>
        </p:nvSpPr>
        <p:spPr>
          <a:xfrm>
            <a:off x="5394960" y="33832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5"/>
                </a:solidFill>
              </a:rPr>
              <a:t>Low</a:t>
            </a:r>
            <a:endParaRPr lang="en-US" sz="1100" dirty="0"/>
          </a:p>
        </p:txBody>
      </p:sp>
      <p:sp>
        <p:nvSpPr>
          <p:cNvPr id="21" name="Status medium shape"/>
          <p:cNvSpPr/>
          <p:nvPr/>
        </p:nvSpPr>
        <p:spPr>
          <a:xfrm>
            <a:off x="6309360" y="33832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7EDD2"/>
          </a:solidFill>
          <a:ln w="12700">
            <a:solidFill>
              <a:srgbClr val="F7EDD2"/>
            </a:solidFill>
            <a:prstDash val="solid"/>
          </a:ln>
        </p:spPr>
      </p:sp>
      <p:sp>
        <p:nvSpPr>
          <p:cNvPr id="22" name="Status medium"/>
          <p:cNvSpPr txBox="1"/>
          <p:nvPr/>
        </p:nvSpPr>
        <p:spPr>
          <a:xfrm>
            <a:off x="6309360" y="33832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6A00"/>
                </a:solidFill>
              </a:rPr>
              <a:t>Medium</a:t>
            </a:r>
            <a:endParaRPr lang="en-US" sz="1100" dirty="0"/>
          </a:p>
        </p:txBody>
      </p:sp>
      <p:sp>
        <p:nvSpPr>
          <p:cNvPr id="23" name="Status high shape"/>
          <p:cNvSpPr/>
          <p:nvPr/>
        </p:nvSpPr>
        <p:spPr>
          <a:xfrm>
            <a:off x="7360920" y="33832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24" name="Status high"/>
          <p:cNvSpPr txBox="1"/>
          <p:nvPr/>
        </p:nvSpPr>
        <p:spPr>
          <a:xfrm>
            <a:off x="7360920" y="33832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High</a:t>
            </a:r>
            <a:endParaRPr lang="en-US" sz="1100" dirty="0"/>
          </a:p>
        </p:txBody>
      </p:sp>
      <p:sp>
        <p:nvSpPr>
          <p:cNvPr id="25" name="Status note"/>
          <p:cNvSpPr txBox="1"/>
          <p:nvPr/>
        </p:nvSpPr>
        <p:spPr>
          <a:xfrm>
            <a:off x="5394960" y="3794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Risk and severity in agent dashboards. Not on marketing pages.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Sea and green never carry text</a:t>
            </a:r>
            <a:endParaRPr lang="en-US" sz="3000" dirty="0"/>
          </a:p>
        </p:txBody>
      </p:sp>
      <p:sp>
        <p:nvSpPr>
          <p:cNvPr id="3" name="Contrast tile 1"/>
          <p:cNvSpPr/>
          <p:nvPr/>
        </p:nvSpPr>
        <p:spPr>
          <a:xfrm>
            <a:off x="457200" y="114300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F3D2CC"/>
            </a:solidFill>
            <a:prstDash val="solid"/>
          </a:ln>
        </p:spPr>
      </p:sp>
      <p:sp>
        <p:nvSpPr>
          <p:cNvPr id="4" name="Contrast sample 1"/>
          <p:cNvSpPr txBox="1"/>
          <p:nvPr/>
        </p:nvSpPr>
        <p:spPr>
          <a:xfrm>
            <a:off x="64008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C9C9"/>
                </a:solidFill>
              </a:rPr>
              <a:t>Book a free call</a:t>
            </a:r>
            <a:endParaRPr lang="en-US" sz="2200" dirty="0"/>
          </a:p>
        </p:txBody>
      </p:sp>
      <p:sp>
        <p:nvSpPr>
          <p:cNvPr id="5" name="Contrast label 1"/>
          <p:cNvSpPr txBox="1"/>
          <p:nvPr/>
        </p:nvSpPr>
        <p:spPr>
          <a:xfrm>
            <a:off x="6400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Sea text on white  </a:t>
            </a:r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2.0 : 1</a:t>
            </a:r>
            <a:endParaRPr lang="en-US" sz="1200" dirty="0"/>
          </a:p>
        </p:txBody>
      </p:sp>
      <p:sp>
        <p:nvSpPr>
          <p:cNvPr id="6" name="Contrast tile 2"/>
          <p:cNvSpPr/>
          <p:nvPr/>
        </p:nvSpPr>
        <p:spPr>
          <a:xfrm>
            <a:off x="3264408" y="114300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F3D2CC"/>
            </a:solidFill>
            <a:prstDash val="solid"/>
          </a:ln>
        </p:spPr>
      </p:sp>
      <p:sp>
        <p:nvSpPr>
          <p:cNvPr id="7" name="Contrast sample 2"/>
          <p:cNvSpPr txBox="1"/>
          <p:nvPr/>
        </p:nvSpPr>
        <p:spPr>
          <a:xfrm>
            <a:off x="3447288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Book a free call</a:t>
            </a:r>
            <a:endParaRPr lang="en-US" sz="2200" dirty="0"/>
          </a:p>
        </p:txBody>
      </p:sp>
      <p:sp>
        <p:nvSpPr>
          <p:cNvPr id="8" name="Contrast label 2"/>
          <p:cNvSpPr txBox="1"/>
          <p:nvPr/>
        </p:nvSpPr>
        <p:spPr>
          <a:xfrm>
            <a:off x="3447288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Green text on white  </a:t>
            </a:r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2.1 : 1</a:t>
            </a:r>
            <a:endParaRPr lang="en-US" sz="1200" dirty="0"/>
          </a:p>
        </p:txBody>
      </p:sp>
      <p:sp>
        <p:nvSpPr>
          <p:cNvPr id="9" name="Contrast tile 3"/>
          <p:cNvSpPr/>
          <p:nvPr/>
        </p:nvSpPr>
        <p:spPr>
          <a:xfrm>
            <a:off x="6071616" y="114300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10" name="Contrast sample 3"/>
          <p:cNvSpPr txBox="1"/>
          <p:nvPr/>
        </p:nvSpPr>
        <p:spPr>
          <a:xfrm>
            <a:off x="6254496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Book a free call</a:t>
            </a:r>
            <a:endParaRPr lang="en-US" sz="2200" dirty="0"/>
          </a:p>
        </p:txBody>
      </p:sp>
      <p:sp>
        <p:nvSpPr>
          <p:cNvPr id="11" name="Contrast label 3"/>
          <p:cNvSpPr txBox="1"/>
          <p:nvPr/>
        </p:nvSpPr>
        <p:spPr>
          <a:xfrm>
            <a:off x="6254496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Navy on white  </a:t>
            </a:r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17.4 : 1</a:t>
            </a:r>
            <a:endParaRPr lang="en-US" sz="1200" dirty="0"/>
          </a:p>
        </p:txBody>
      </p:sp>
      <p:sp>
        <p:nvSpPr>
          <p:cNvPr id="12" name="Contrast tile 4"/>
          <p:cNvSpPr/>
          <p:nvPr/>
        </p:nvSpPr>
        <p:spPr>
          <a:xfrm>
            <a:off x="457200" y="283464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F4FDF8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13" name="Contrast sample 4"/>
          <p:cNvSpPr txBox="1"/>
          <p:nvPr/>
        </p:nvSpPr>
        <p:spPr>
          <a:xfrm>
            <a:off x="64008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20"/>
                </a:solidFill>
              </a:rPr>
              <a:t>Book a free call</a:t>
            </a:r>
            <a:endParaRPr lang="en-US" sz="2200" dirty="0"/>
          </a:p>
        </p:txBody>
      </p:sp>
      <p:sp>
        <p:nvSpPr>
          <p:cNvPr id="14" name="Contrast label 4"/>
          <p:cNvSpPr txBox="1"/>
          <p:nvPr/>
        </p:nvSpPr>
        <p:spPr>
          <a:xfrm>
            <a:off x="64008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Ink on mint  </a:t>
            </a:r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13.9 : 1</a:t>
            </a:r>
            <a:endParaRPr lang="en-US" sz="1200" dirty="0"/>
          </a:p>
        </p:txBody>
      </p:sp>
      <p:sp>
        <p:nvSpPr>
          <p:cNvPr id="15" name="Contrast tile 5"/>
          <p:cNvSpPr/>
          <p:nvPr/>
        </p:nvSpPr>
        <p:spPr>
          <a:xfrm>
            <a:off x="3264408" y="283464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16" name="Contrast sample 5"/>
          <p:cNvSpPr txBox="1"/>
          <p:nvPr/>
        </p:nvSpPr>
        <p:spPr>
          <a:xfrm>
            <a:off x="3447288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EF5"/>
                </a:solidFill>
              </a:rPr>
              <a:t>Book a free call</a:t>
            </a:r>
            <a:endParaRPr lang="en-US" sz="2200" dirty="0"/>
          </a:p>
        </p:txBody>
      </p:sp>
      <p:sp>
        <p:nvSpPr>
          <p:cNvPr id="17" name="Contrast label 5"/>
          <p:cNvSpPr txBox="1"/>
          <p:nvPr/>
        </p:nvSpPr>
        <p:spPr>
          <a:xfrm>
            <a:off x="3447288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Blue on white  </a:t>
            </a:r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4.6 : 1</a:t>
            </a:r>
            <a:endParaRPr lang="en-US" sz="1200" dirty="0"/>
          </a:p>
        </p:txBody>
      </p:sp>
      <p:sp>
        <p:nvSpPr>
          <p:cNvPr id="18" name="Contrast tile 6"/>
          <p:cNvSpPr/>
          <p:nvPr/>
        </p:nvSpPr>
        <p:spPr>
          <a:xfrm>
            <a:off x="6071616" y="2834640"/>
            <a:ext cx="2606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19" name="Contrast sample 6"/>
          <p:cNvSpPr txBox="1"/>
          <p:nvPr/>
        </p:nvSpPr>
        <p:spPr>
          <a:xfrm>
            <a:off x="6254496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A7A65"/>
                </a:solidFill>
              </a:rPr>
              <a:t>Book a free call</a:t>
            </a:r>
            <a:endParaRPr lang="en-US" sz="2200" dirty="0"/>
          </a:p>
        </p:txBody>
      </p:sp>
      <p:sp>
        <p:nvSpPr>
          <p:cNvPr id="20" name="Contrast label 6"/>
          <p:cNvSpPr txBox="1"/>
          <p:nvPr/>
        </p:nvSpPr>
        <p:spPr>
          <a:xfrm>
            <a:off x="6254496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Muted on white  </a:t>
            </a:r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4.8 : 1</a:t>
            </a:r>
            <a:endParaRPr lang="en-US" sz="1200" dirty="0"/>
          </a:p>
        </p:txBody>
      </p:sp>
      <p:sp>
        <p:nvSpPr>
          <p:cNvPr id="21" name="Contrast note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White on the gradient: large, bold text only. Small blue text on mint: weight 700 or #1558C7.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Heavy headlines, roomy body</a:t>
            </a:r>
            <a:endParaRPr lang="en-US" sz="3000" dirty="0"/>
          </a:p>
        </p:txBody>
      </p:sp>
      <p:pic>
        <p:nvPicPr>
          <p:cNvPr id="3" name="Eyebrow sample" descr="/home/claude/word/brand/eyeb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960120" cy="136285"/>
          </a:xfrm>
          <a:prstGeom prst="rect">
            <a:avLst/>
          </a:prstGeom>
        </p:spPr>
      </p:pic>
      <p:sp>
        <p:nvSpPr>
          <p:cNvPr id="4" name="Headline sample"/>
          <p:cNvSpPr txBox="1"/>
          <p:nvPr/>
        </p:nvSpPr>
        <p:spPr>
          <a:xfrm>
            <a:off x="457200" y="1463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</a:rPr>
              <a:t>Setup from $1,500.</a:t>
            </a:r>
            <a:endParaRPr lang="en-US" sz="4000" dirty="0"/>
          </a:p>
        </p:txBody>
      </p:sp>
      <p:sp>
        <p:nvSpPr>
          <p:cNvPr id="5" name="Body sample"/>
          <p:cNvSpPr txBox="1"/>
          <p:nvPr/>
        </p:nvSpPr>
        <p:spPr>
          <a:xfrm>
            <a:off x="457200" y="22860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7A65"/>
                </a:solidFill>
              </a:rPr>
              <a:t>A US automation engineer costs $90,000 to $140,000 a year. Ours start at $1,500.</a:t>
            </a:r>
            <a:endParaRPr lang="en-US" sz="1500" dirty="0"/>
          </a:p>
        </p:txBody>
      </p:sp>
      <p:sp>
        <p:nvSpPr>
          <p:cNvPr id="6" name="Type note"/>
          <p:cNvSpPr txBox="1"/>
          <p:nvPr/>
        </p:nvSpPr>
        <p:spPr>
          <a:xfrm>
            <a:off x="457200" y="32004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20"/>
                </a:solidFill>
              </a:rPr>
              <a:t>Segoe UI / system-ui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Headlines 800 to 900, body 400 at 1.65 line height. Eyebrow tags: 700, uppercase, wide tracking, gradient. Office files use Segoe UI; a Mac without it substitutes a similar sans.</a:t>
            </a:r>
            <a:endParaRPr lang="en-US" sz="1200" dirty="0"/>
          </a:p>
        </p:txBody>
      </p:sp>
      <p:sp>
        <p:nvSpPr>
          <p:cNvPr id="7" name="Scale card"/>
          <p:cNvSpPr/>
          <p:nvPr/>
        </p:nvSpPr>
        <p:spPr>
          <a:xfrm>
            <a:off x="5669280" y="1143000"/>
            <a:ext cx="3017520" cy="3291840"/>
          </a:xfrm>
          <a:prstGeom prst="roundRect">
            <a:avLst>
              <a:gd name="adj" fmla="val 4242"/>
            </a:avLst>
          </a:prstGeom>
          <a:solidFill>
            <a:srgbClr val="F4FDF8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8" name="Scale Hero H1"/>
          <p:cNvSpPr txBox="1"/>
          <p:nvPr/>
        </p:nvSpPr>
        <p:spPr>
          <a:xfrm>
            <a:off x="5897880" y="13258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</a:rPr>
              <a:t>Hero H1</a:t>
            </a:r>
            <a:endParaRPr lang="en-US" sz="2600" dirty="0"/>
          </a:p>
        </p:txBody>
      </p:sp>
      <p:sp>
        <p:nvSpPr>
          <p:cNvPr id="9" name="Scale spec Hero H1"/>
          <p:cNvSpPr txBox="1"/>
          <p:nvPr/>
        </p:nvSpPr>
        <p:spPr>
          <a:xfrm>
            <a:off x="7406640" y="13258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900 · 2.1–3.8 rem</a:t>
            </a:r>
            <a:endParaRPr lang="en-US" sz="1000" dirty="0"/>
          </a:p>
        </p:txBody>
      </p:sp>
      <p:sp>
        <p:nvSpPr>
          <p:cNvPr id="10" name="Scale Section H2"/>
          <p:cNvSpPr txBox="1"/>
          <p:nvPr/>
        </p:nvSpPr>
        <p:spPr>
          <a:xfrm>
            <a:off x="5897880" y="207568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</a:rPr>
              <a:t>Section H2</a:t>
            </a:r>
            <a:endParaRPr lang="en-US" sz="2000" dirty="0"/>
          </a:p>
        </p:txBody>
      </p:sp>
      <p:sp>
        <p:nvSpPr>
          <p:cNvPr id="11" name="Scale spec Section H2"/>
          <p:cNvSpPr txBox="1"/>
          <p:nvPr/>
        </p:nvSpPr>
        <p:spPr>
          <a:xfrm>
            <a:off x="7406640" y="2075688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800 · 1.6–2.4 rem</a:t>
            </a:r>
            <a:endParaRPr lang="en-US" sz="1000" dirty="0"/>
          </a:p>
        </p:txBody>
      </p:sp>
      <p:sp>
        <p:nvSpPr>
          <p:cNvPr id="12" name="Scale Card H3"/>
          <p:cNvSpPr txBox="1"/>
          <p:nvPr/>
        </p:nvSpPr>
        <p:spPr>
          <a:xfrm>
            <a:off x="5897880" y="282549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Card H3</a:t>
            </a:r>
            <a:endParaRPr lang="en-US" sz="1500" dirty="0"/>
          </a:p>
        </p:txBody>
      </p:sp>
      <p:sp>
        <p:nvSpPr>
          <p:cNvPr id="13" name="Scale spec Card H3"/>
          <p:cNvSpPr txBox="1"/>
          <p:nvPr/>
        </p:nvSpPr>
        <p:spPr>
          <a:xfrm>
            <a:off x="7406640" y="282549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700 · 1 rem</a:t>
            </a:r>
            <a:endParaRPr lang="en-US" sz="1000" dirty="0"/>
          </a:p>
        </p:txBody>
      </p:sp>
      <p:sp>
        <p:nvSpPr>
          <p:cNvPr id="14" name="Scale Body"/>
          <p:cNvSpPr txBox="1"/>
          <p:nvPr/>
        </p:nvSpPr>
        <p:spPr>
          <a:xfrm>
            <a:off x="5897880" y="3575304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Body</a:t>
            </a:r>
            <a:endParaRPr lang="en-US" sz="1300" dirty="0"/>
          </a:p>
        </p:txBody>
      </p:sp>
      <p:sp>
        <p:nvSpPr>
          <p:cNvPr id="15" name="Scale spec Body"/>
          <p:cNvSpPr txBox="1"/>
          <p:nvPr/>
        </p:nvSpPr>
        <p:spPr>
          <a:xfrm>
            <a:off x="7406640" y="3575304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400 · 1 rem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Pills, soft cards and gradient icons</a:t>
            </a:r>
            <a:endParaRPr lang="en-US" sz="3000" dirty="0"/>
          </a:p>
        </p:txBody>
      </p:sp>
      <p:sp>
        <p:nvSpPr>
          <p:cNvPr id="3" name="Buttons head"/>
          <p:cNvSpPr txBox="1"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Buttons</a:t>
            </a:r>
            <a:endParaRPr lang="en-US" sz="1400" dirty="0"/>
          </a:p>
        </p:txBody>
      </p:sp>
      <p:pic>
        <p:nvPicPr>
          <p:cNvPr id="4" name="Gradient button" descr="/home/claude/word/brand/pill_b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1920240" cy="420624"/>
          </a:xfrm>
          <a:prstGeom prst="rect">
            <a:avLst/>
          </a:prstGeom>
        </p:spPr>
      </p:pic>
      <p:sp>
        <p:nvSpPr>
          <p:cNvPr id="5" name="Gradient button text"/>
          <p:cNvSpPr txBox="1"/>
          <p:nvPr/>
        </p:nvSpPr>
        <p:spPr>
          <a:xfrm>
            <a:off x="457200" y="14630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Book a Call</a:t>
            </a:r>
            <a:endParaRPr lang="en-US" sz="1300" dirty="0"/>
          </a:p>
        </p:txBody>
      </p:sp>
      <p:sp>
        <p:nvSpPr>
          <p:cNvPr id="6" name="Dark button"/>
          <p:cNvSpPr/>
          <p:nvPr/>
        </p:nvSpPr>
        <p:spPr>
          <a:xfrm>
            <a:off x="2514600" y="1463040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Dark button text"/>
          <p:cNvSpPr txBox="1"/>
          <p:nvPr/>
        </p:nvSpPr>
        <p:spPr>
          <a:xfrm>
            <a:off x="2514600" y="14630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See full pricing</a:t>
            </a:r>
            <a:endParaRPr lang="en-US" sz="1300" dirty="0"/>
          </a:p>
        </p:txBody>
      </p:sp>
      <p:pic>
        <p:nvPicPr>
          <p:cNvPr id="8" name="Button backdrop" descr="/home/claude/word/brand/grad_squa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2057400"/>
            <a:ext cx="3977640" cy="777240"/>
          </a:xfrm>
          <a:prstGeom prst="rect">
            <a:avLst/>
          </a:prstGeom>
        </p:spPr>
      </p:pic>
      <p:sp>
        <p:nvSpPr>
          <p:cNvPr id="9" name="White button"/>
          <p:cNvSpPr/>
          <p:nvPr/>
        </p:nvSpPr>
        <p:spPr>
          <a:xfrm>
            <a:off x="640080" y="224028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White button text"/>
          <p:cNvSpPr txBox="1"/>
          <p:nvPr/>
        </p:nvSpPr>
        <p:spPr>
          <a:xfrm>
            <a:off x="640080" y="22402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EF5"/>
                </a:solidFill>
              </a:rPr>
              <a:t>Book a free call</a:t>
            </a:r>
            <a:endParaRPr lang="en-US" sz="1200" dirty="0"/>
          </a:p>
        </p:txBody>
      </p:sp>
      <p:sp>
        <p:nvSpPr>
          <p:cNvPr id="11" name="Outline button"/>
          <p:cNvSpPr/>
          <p:nvPr/>
        </p:nvSpPr>
        <p:spPr>
          <a:xfrm>
            <a:off x="2514600" y="224028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Outline button text"/>
          <p:cNvSpPr txBox="1"/>
          <p:nvPr/>
        </p:nvSpPr>
        <p:spPr>
          <a:xfrm>
            <a:off x="2514600" y="22402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See the catalog</a:t>
            </a:r>
            <a:endParaRPr lang="en-US" sz="1200" dirty="0"/>
          </a:p>
        </p:txBody>
      </p:sp>
      <p:sp>
        <p:nvSpPr>
          <p:cNvPr id="13" name="Button note"/>
          <p:cNvSpPr txBox="1"/>
          <p:nvPr/>
        </p:nvSpPr>
        <p:spPr>
          <a:xfrm>
            <a:off x="457200" y="29718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Fully rounded, weight 700. White and outline buttons sit on the gradient.</a:t>
            </a:r>
            <a:endParaRPr lang="en-US" sz="1100" dirty="0"/>
          </a:p>
        </p:txBody>
      </p:sp>
      <p:sp>
        <p:nvSpPr>
          <p:cNvPr id="14" name="Agent card sample"/>
          <p:cNvSpPr/>
          <p:nvPr/>
        </p:nvSpPr>
        <p:spPr>
          <a:xfrm>
            <a:off x="4709160" y="1097280"/>
            <a:ext cx="397764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15" name="Card pill area shape"/>
          <p:cNvSpPr/>
          <p:nvPr/>
        </p:nvSpPr>
        <p:spPr>
          <a:xfrm>
            <a:off x="4937760" y="129844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4FDF8"/>
          </a:solidFill>
          <a:ln w="12700">
            <a:solidFill>
              <a:srgbClr val="F4FDF8"/>
            </a:solidFill>
            <a:prstDash val="solid"/>
          </a:ln>
        </p:spPr>
      </p:sp>
      <p:sp>
        <p:nvSpPr>
          <p:cNvPr id="16" name="Card pill area"/>
          <p:cNvSpPr txBox="1"/>
          <p:nvPr/>
        </p:nvSpPr>
        <p:spPr>
          <a:xfrm>
            <a:off x="4937760" y="129844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7A65"/>
                </a:solidFill>
              </a:rPr>
              <a:t>Sales</a:t>
            </a:r>
            <a:endParaRPr lang="en-US" sz="1000" dirty="0"/>
          </a:p>
        </p:txBody>
      </p:sp>
      <p:sp>
        <p:nvSpPr>
          <p:cNvPr id="17" name="Card pill tier shape"/>
          <p:cNvSpPr/>
          <p:nvPr/>
        </p:nvSpPr>
        <p:spPr>
          <a:xfrm>
            <a:off x="5715000" y="1298448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CF3FE"/>
          </a:solidFill>
          <a:ln w="12700">
            <a:solidFill>
              <a:srgbClr val="ECF3FE"/>
            </a:solidFill>
            <a:prstDash val="solid"/>
          </a:ln>
        </p:spPr>
      </p:sp>
      <p:sp>
        <p:nvSpPr>
          <p:cNvPr id="18" name="Card pill tier"/>
          <p:cNvSpPr txBox="1"/>
          <p:nvPr/>
        </p:nvSpPr>
        <p:spPr>
          <a:xfrm>
            <a:off x="5715000" y="12984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EF5"/>
                </a:solidFill>
              </a:rPr>
              <a:t>Advanced</a:t>
            </a:r>
            <a:endParaRPr lang="en-US" sz="1000" dirty="0"/>
          </a:p>
        </p:txBody>
      </p:sp>
      <p:sp>
        <p:nvSpPr>
          <p:cNvPr id="19" name="Card pill ready shape"/>
          <p:cNvSpPr/>
          <p:nvPr/>
        </p:nvSpPr>
        <p:spPr>
          <a:xfrm>
            <a:off x="6675120" y="129844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4F9EE"/>
          </a:solidFill>
          <a:ln w="12700">
            <a:solidFill>
              <a:srgbClr val="E4F9EE"/>
            </a:solidFill>
            <a:prstDash val="solid"/>
          </a:ln>
        </p:spPr>
      </p:sp>
      <p:sp>
        <p:nvSpPr>
          <p:cNvPr id="20" name="Card pill ready"/>
          <p:cNvSpPr txBox="1"/>
          <p:nvPr/>
        </p:nvSpPr>
        <p:spPr>
          <a:xfrm>
            <a:off x="6675120" y="1298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</a:rPr>
              <a:t>Ready now</a:t>
            </a:r>
            <a:endParaRPr lang="en-US" sz="1000" dirty="0"/>
          </a:p>
        </p:txBody>
      </p:sp>
      <p:sp>
        <p:nvSpPr>
          <p:cNvPr id="21" name="Card title"/>
          <p:cNvSpPr txBox="1"/>
          <p:nvPr/>
        </p:nvSpPr>
        <p:spPr>
          <a:xfrm>
            <a:off x="4937760" y="1691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Signal Prospector</a:t>
            </a:r>
            <a:endParaRPr lang="en-US" sz="1600" dirty="0"/>
          </a:p>
        </p:txBody>
      </p:sp>
      <p:sp>
        <p:nvSpPr>
          <p:cNvPr id="22" name="Card body"/>
          <p:cNvSpPr txBox="1"/>
          <p:nvPr/>
        </p:nvSpPr>
        <p:spPr>
          <a:xfrm>
            <a:off x="4937760" y="2103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Finds companies showing buying signals in the news, explains why now, finds the right people and saves it all to your CRM.</a:t>
            </a:r>
            <a:endParaRPr lang="en-US" sz="1200" dirty="0"/>
          </a:p>
        </p:txBody>
      </p:sp>
      <p:sp>
        <p:nvSpPr>
          <p:cNvPr id="23" name="Card note"/>
          <p:cNvSpPr txBox="1"/>
          <p:nvPr/>
        </p:nvSpPr>
        <p:spPr>
          <a:xfrm>
            <a:off x="4709160" y="3520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White · 18 px corners · 1 px sea-tint border · lifts on hover</a:t>
            </a:r>
            <a:endParaRPr lang="en-US" sz="1100" dirty="0"/>
          </a:p>
        </p:txBody>
      </p:sp>
      <p:pic>
        <p:nvPicPr>
          <p:cNvPr id="24" name="Icon 1 square" descr="/home/claude/word/brand/icon_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03320"/>
            <a:ext cx="502920" cy="502920"/>
          </a:xfrm>
          <a:prstGeom prst="rect">
            <a:avLst/>
          </a:prstGeom>
        </p:spPr>
      </p:pic>
      <p:sp>
        <p:nvSpPr>
          <p:cNvPr id="25" name="Icon 1"/>
          <p:cNvSpPr txBox="1"/>
          <p:nvPr/>
        </p:nvSpPr>
        <p:spPr>
          <a:xfrm>
            <a:off x="4572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📈</a:t>
            </a:r>
            <a:endParaRPr lang="en-US" sz="1430" dirty="0"/>
          </a:p>
        </p:txBody>
      </p:sp>
      <p:pic>
        <p:nvPicPr>
          <p:cNvPr id="26" name="Icon 2 square" descr="/home/claude/word/brand/icon_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703320"/>
            <a:ext cx="502920" cy="502920"/>
          </a:xfrm>
          <a:prstGeom prst="rect">
            <a:avLst/>
          </a:prstGeom>
        </p:spPr>
      </p:pic>
      <p:sp>
        <p:nvSpPr>
          <p:cNvPr id="27" name="Icon 2"/>
          <p:cNvSpPr txBox="1"/>
          <p:nvPr/>
        </p:nvSpPr>
        <p:spPr>
          <a:xfrm>
            <a:off x="11430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🔄</a:t>
            </a:r>
            <a:endParaRPr lang="en-US" sz="1430" dirty="0"/>
          </a:p>
        </p:txBody>
      </p:sp>
      <p:pic>
        <p:nvPicPr>
          <p:cNvPr id="28" name="Icon 3 square" descr="/home/claude/word/brand/icon_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703320"/>
            <a:ext cx="502920" cy="502920"/>
          </a:xfrm>
          <a:prstGeom prst="rect">
            <a:avLst/>
          </a:prstGeom>
        </p:spPr>
      </p:pic>
      <p:sp>
        <p:nvSpPr>
          <p:cNvPr id="29" name="Icon 3"/>
          <p:cNvSpPr txBox="1"/>
          <p:nvPr/>
        </p:nvSpPr>
        <p:spPr>
          <a:xfrm>
            <a:off x="18288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🧾</a:t>
            </a:r>
            <a:endParaRPr lang="en-US" sz="1430" dirty="0"/>
          </a:p>
        </p:txBody>
      </p:sp>
      <p:sp>
        <p:nvSpPr>
          <p:cNvPr id="30" name="Icon note"/>
          <p:cNvSpPr txBox="1"/>
          <p:nvPr/>
        </p:nvSpPr>
        <p:spPr>
          <a:xfrm>
            <a:off x="26060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Icons: 46 px gradient squares, 11 px corners, one emoji or glyph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it looks on plaiceholder.io</a:t>
            </a:r>
            <a:endParaRPr lang="en-US" sz="3000" dirty="0"/>
          </a:p>
        </p:txBody>
      </p:sp>
      <p:pic>
        <p:nvPicPr>
          <p:cNvPr id="3" name="Site hero" descr="plaiceholder.io h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206240" cy="2891790"/>
          </a:xfrm>
          <a:prstGeom prst="rect">
            <a:avLst/>
          </a:prstGeom>
        </p:spPr>
      </p:pic>
      <p:pic>
        <p:nvPicPr>
          <p:cNvPr id="4" name="Site cards" descr="Agent catalog car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97280"/>
            <a:ext cx="3840480" cy="1224153"/>
          </a:xfrm>
          <a:prstGeom prst="rect">
            <a:avLst/>
          </a:prstGeom>
        </p:spPr>
      </p:pic>
      <p:pic>
        <p:nvPicPr>
          <p:cNvPr id="5" name="Site footer" descr="Pricing band and foo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23160"/>
            <a:ext cx="3840480" cy="1896237"/>
          </a:xfrm>
          <a:prstGeom prst="rect">
            <a:avLst/>
          </a:prstGeom>
        </p:spPr>
      </p:pic>
      <p:sp>
        <p:nvSpPr>
          <p:cNvPr id="6" name="Site caption"/>
          <p:cNvSpPr txBox="1"/>
          <p:nvPr/>
        </p:nvSpPr>
        <p:spPr>
          <a:xfrm>
            <a:off x="457200" y="4069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5"/>
                </a:solidFill>
              </a:rPr>
              <a:t>Hero: gradient with dot pattern · Catalog: pills and cards · Pricing band and navy footer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taglines, one promise</a:t>
            </a:r>
            <a:endParaRPr lang="en-US" sz="3000" dirty="0"/>
          </a:p>
        </p:txBody>
      </p:sp>
      <p:pic>
        <p:nvPicPr>
          <p:cNvPr id="3" name="Primary band" descr="/home/claude/word/brand/grad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914400"/>
          </a:xfrm>
          <a:prstGeom prst="rect">
            <a:avLst/>
          </a:prstGeom>
        </p:spPr>
      </p:pic>
      <p:sp>
        <p:nvSpPr>
          <p:cNvPr id="4" name="Primary label"/>
          <p:cNvSpPr txBox="1"/>
          <p:nvPr/>
        </p:nvSpPr>
        <p:spPr>
          <a:xfrm>
            <a:off x="73152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PRIMARY</a:t>
            </a:r>
            <a:endParaRPr lang="en-US" sz="1000" dirty="0"/>
          </a:p>
        </p:txBody>
      </p:sp>
      <p:sp>
        <p:nvSpPr>
          <p:cNvPr id="5" name="Primary tagline"/>
          <p:cNvSpPr txBox="1"/>
          <p:nvPr/>
        </p:nvSpPr>
        <p:spPr>
          <a:xfrm>
            <a:off x="731520" y="149047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AI agents that do the busywork inside the tools you already use.</a:t>
            </a:r>
            <a:endParaRPr lang="en-US" sz="1900" dirty="0"/>
          </a:p>
        </p:txBody>
      </p:sp>
      <p:sp>
        <p:nvSpPr>
          <p:cNvPr id="6" name="Tagline HERO card"/>
          <p:cNvSpPr/>
          <p:nvPr/>
        </p:nvSpPr>
        <p:spPr>
          <a:xfrm>
            <a:off x="457200" y="2240280"/>
            <a:ext cx="8229600" cy="868680"/>
          </a:xfrm>
          <a:prstGeom prst="roundRect">
            <a:avLst>
              <a:gd name="adj" fmla="val 14737"/>
            </a:avLst>
          </a:prstGeom>
          <a:solidFill>
            <a:srgbClr val="F4FDF8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7" name="Tagline HERO label"/>
          <p:cNvSpPr txBox="1"/>
          <p:nvPr/>
        </p:nvSpPr>
        <p:spPr>
          <a:xfrm>
            <a:off x="731520" y="2350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6EF5"/>
                </a:solidFill>
              </a:rPr>
              <a:t>HERO</a:t>
            </a:r>
            <a:endParaRPr lang="en-US" sz="1000" dirty="0"/>
          </a:p>
        </p:txBody>
      </p:sp>
      <p:sp>
        <p:nvSpPr>
          <p:cNvPr id="8" name="Tagline HERO"/>
          <p:cNvSpPr txBox="1"/>
          <p:nvPr/>
        </p:nvSpPr>
        <p:spPr>
          <a:xfrm>
            <a:off x="731520" y="2606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Your team's slowest weekly task, handed to a custom AI agent in two weeks.</a:t>
            </a:r>
            <a:endParaRPr lang="en-US" sz="1500" dirty="0"/>
          </a:p>
        </p:txBody>
      </p:sp>
      <p:sp>
        <p:nvSpPr>
          <p:cNvPr id="9" name="Tagline SHORT card"/>
          <p:cNvSpPr/>
          <p:nvPr/>
        </p:nvSpPr>
        <p:spPr>
          <a:xfrm>
            <a:off x="457200" y="3264408"/>
            <a:ext cx="8229600" cy="868680"/>
          </a:xfrm>
          <a:prstGeom prst="roundRect">
            <a:avLst>
              <a:gd name="adj" fmla="val 14737"/>
            </a:avLst>
          </a:prstGeom>
          <a:solidFill>
            <a:srgbClr val="F4FDF8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10" name="Tagline SHORT label"/>
          <p:cNvSpPr txBox="1"/>
          <p:nvPr/>
        </p:nvSpPr>
        <p:spPr>
          <a:xfrm>
            <a:off x="731520" y="3374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6EF5"/>
                </a:solidFill>
              </a:rPr>
              <a:t>SHORT</a:t>
            </a:r>
            <a:endParaRPr lang="en-US" sz="1000" dirty="0"/>
          </a:p>
        </p:txBody>
      </p:sp>
      <p:sp>
        <p:nvSpPr>
          <p:cNvPr id="11" name="Tagline SHORT"/>
          <p:cNvSpPr txBox="1"/>
          <p:nvPr/>
        </p:nvSpPr>
        <p:spPr>
          <a:xfrm>
            <a:off x="731520" y="363016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</a:rPr>
              <a:t>Installed. Tuned. Proven.</a:t>
            </a:r>
            <a:endParaRPr lang="en-US" sz="2200" dirty="0"/>
          </a:p>
        </p:txBody>
      </p:sp>
      <p:sp>
        <p:nvSpPr>
          <p:cNvPr id="12" name="Hero badge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5"/>
                </a:solidFill>
              </a:rPr>
              <a:t>Hero badge: “Custom-built AI agents for growing companies”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Five proof points, always in this order</a:t>
            </a:r>
            <a:endParaRPr lang="en-US" sz="3000" dirty="0"/>
          </a:p>
        </p:txBody>
      </p:sp>
      <p:sp>
        <p:nvSpPr>
          <p:cNvPr id="3" name="Proof card 1"/>
          <p:cNvSpPr/>
          <p:nvPr/>
        </p:nvSpPr>
        <p:spPr>
          <a:xfrm>
            <a:off x="457200" y="1188720"/>
            <a:ext cx="1536192" cy="3154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4" name="Proof number 1 square" descr="/home/claude/word/brand/icon_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02920" cy="502920"/>
          </a:xfrm>
          <a:prstGeom prst="rect">
            <a:avLst/>
          </a:prstGeom>
        </p:spPr>
      </p:pic>
      <p:sp>
        <p:nvSpPr>
          <p:cNvPr id="5" name="Proof number 1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1</a:t>
            </a:r>
            <a:endParaRPr lang="en-US" sz="1430" dirty="0"/>
          </a:p>
        </p:txBody>
      </p:sp>
      <p:sp>
        <p:nvSpPr>
          <p:cNvPr id="6" name="Proof head 1"/>
          <p:cNvSpPr txBox="1"/>
          <p:nvPr/>
        </p:nvSpPr>
        <p:spPr>
          <a:xfrm>
            <a:off x="64008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Your tools</a:t>
            </a:r>
            <a:endParaRPr lang="en-US" sz="1500" dirty="0"/>
          </a:p>
        </p:txBody>
      </p:sp>
      <p:sp>
        <p:nvSpPr>
          <p:cNvPr id="7" name="Proof body 1"/>
          <p:cNvSpPr txBox="1"/>
          <p:nvPr/>
        </p:nvSpPr>
        <p:spPr>
          <a:xfrm>
            <a:off x="640080" y="26517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HubSpot, Salesforce, Apollo, Zendesk, Slack, QuickBooks, spreadsheets</a:t>
            </a:r>
            <a:endParaRPr lang="en-US" sz="1200" dirty="0"/>
          </a:p>
        </p:txBody>
      </p:sp>
      <p:sp>
        <p:nvSpPr>
          <p:cNvPr id="8" name="Proof card 2"/>
          <p:cNvSpPr/>
          <p:nvPr/>
        </p:nvSpPr>
        <p:spPr>
          <a:xfrm>
            <a:off x="2139696" y="1188720"/>
            <a:ext cx="1536192" cy="3154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9" name="Proof number 2 square" descr="/home/claude/word/brand/icon_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1371600"/>
            <a:ext cx="502920" cy="502920"/>
          </a:xfrm>
          <a:prstGeom prst="rect">
            <a:avLst/>
          </a:prstGeom>
        </p:spPr>
      </p:pic>
      <p:sp>
        <p:nvSpPr>
          <p:cNvPr id="10" name="Proof number 2"/>
          <p:cNvSpPr txBox="1"/>
          <p:nvPr/>
        </p:nvSpPr>
        <p:spPr>
          <a:xfrm>
            <a:off x="2322576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2</a:t>
            </a:r>
            <a:endParaRPr lang="en-US" sz="1430" dirty="0"/>
          </a:p>
        </p:txBody>
      </p:sp>
      <p:sp>
        <p:nvSpPr>
          <p:cNvPr id="11" name="Proof head 2"/>
          <p:cNvSpPr txBox="1"/>
          <p:nvPr/>
        </p:nvSpPr>
        <p:spPr>
          <a:xfrm>
            <a:off x="2322576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Your AI</a:t>
            </a:r>
            <a:endParaRPr lang="en-US" sz="1500" dirty="0"/>
          </a:p>
        </p:txBody>
      </p:sp>
      <p:sp>
        <p:nvSpPr>
          <p:cNvPr id="12" name="Proof body 2"/>
          <p:cNvSpPr txBox="1"/>
          <p:nvPr/>
        </p:nvSpPr>
        <p:spPr>
          <a:xfrm>
            <a:off x="2322576" y="26517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Claude, ChatGPT, Perplexity, Grok, Gemini or Copilot</a:t>
            </a:r>
            <a:endParaRPr lang="en-US" sz="1200" dirty="0"/>
          </a:p>
        </p:txBody>
      </p:sp>
      <p:sp>
        <p:nvSpPr>
          <p:cNvPr id="13" name="Proof card 3"/>
          <p:cNvSpPr/>
          <p:nvPr/>
        </p:nvSpPr>
        <p:spPr>
          <a:xfrm>
            <a:off x="3822192" y="1188720"/>
            <a:ext cx="1536192" cy="3154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14" name="Proof number 3 square" descr="/home/claude/word/brand/icon_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1371600"/>
            <a:ext cx="502920" cy="502920"/>
          </a:xfrm>
          <a:prstGeom prst="rect">
            <a:avLst/>
          </a:prstGeom>
        </p:spPr>
      </p:pic>
      <p:sp>
        <p:nvSpPr>
          <p:cNvPr id="15" name="Proof number 3"/>
          <p:cNvSpPr txBox="1"/>
          <p:nvPr/>
        </p:nvSpPr>
        <p:spPr>
          <a:xfrm>
            <a:off x="4005072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3</a:t>
            </a:r>
            <a:endParaRPr lang="en-US" sz="1430" dirty="0"/>
          </a:p>
        </p:txBody>
      </p:sp>
      <p:sp>
        <p:nvSpPr>
          <p:cNvPr id="16" name="Proof head 3"/>
          <p:cNvSpPr txBox="1"/>
          <p:nvPr/>
        </p:nvSpPr>
        <p:spPr>
          <a:xfrm>
            <a:off x="4005072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Proven first</a:t>
            </a:r>
            <a:endParaRPr lang="en-US" sz="1500" dirty="0"/>
          </a:p>
        </p:txBody>
      </p:sp>
      <p:sp>
        <p:nvSpPr>
          <p:cNvPr id="17" name="Proof body 3"/>
          <p:cNvSpPr txBox="1"/>
          <p:nvPr/>
        </p:nvSpPr>
        <p:spPr>
          <a:xfrm>
            <a:off x="4005072" y="26517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A 20-record pilot with a measured result</a:t>
            </a:r>
            <a:endParaRPr lang="en-US" sz="1200" dirty="0"/>
          </a:p>
        </p:txBody>
      </p:sp>
      <p:sp>
        <p:nvSpPr>
          <p:cNvPr id="18" name="Proof card 4"/>
          <p:cNvSpPr/>
          <p:nvPr/>
        </p:nvSpPr>
        <p:spPr>
          <a:xfrm>
            <a:off x="5504688" y="1188720"/>
            <a:ext cx="1536192" cy="3154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19" name="Proof number 4 square" descr="/home/claude/word/brand/icon_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1371600"/>
            <a:ext cx="502920" cy="502920"/>
          </a:xfrm>
          <a:prstGeom prst="rect">
            <a:avLst/>
          </a:prstGeom>
        </p:spPr>
      </p:pic>
      <p:sp>
        <p:nvSpPr>
          <p:cNvPr id="20" name="Proof number 4"/>
          <p:cNvSpPr txBox="1"/>
          <p:nvPr/>
        </p:nvSpPr>
        <p:spPr>
          <a:xfrm>
            <a:off x="568756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4</a:t>
            </a:r>
            <a:endParaRPr lang="en-US" sz="1430" dirty="0"/>
          </a:p>
        </p:txBody>
      </p:sp>
      <p:sp>
        <p:nvSpPr>
          <p:cNvPr id="21" name="Proof head 4"/>
          <p:cNvSpPr txBox="1"/>
          <p:nvPr/>
        </p:nvSpPr>
        <p:spPr>
          <a:xfrm>
            <a:off x="5687568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A yes first</a:t>
            </a:r>
            <a:endParaRPr lang="en-US" sz="1500" dirty="0"/>
          </a:p>
        </p:txBody>
      </p:sp>
      <p:sp>
        <p:nvSpPr>
          <p:cNvPr id="22" name="Proof body 4"/>
          <p:cNvSpPr txBox="1"/>
          <p:nvPr/>
        </p:nvSpPr>
        <p:spPr>
          <a:xfrm>
            <a:off x="5687568" y="26517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Nothing is written or spent without approval</a:t>
            </a:r>
            <a:endParaRPr lang="en-US" sz="1200" dirty="0"/>
          </a:p>
        </p:txBody>
      </p:sp>
      <p:sp>
        <p:nvSpPr>
          <p:cNvPr id="23" name="Proof card 5"/>
          <p:cNvSpPr/>
          <p:nvPr/>
        </p:nvSpPr>
        <p:spPr>
          <a:xfrm>
            <a:off x="7187184" y="1188720"/>
            <a:ext cx="1536192" cy="3154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24" name="Proof number 5 square" descr="/home/claude/word/brand/icon_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1371600"/>
            <a:ext cx="502920" cy="502920"/>
          </a:xfrm>
          <a:prstGeom prst="rect">
            <a:avLst/>
          </a:prstGeom>
        </p:spPr>
      </p:pic>
      <p:sp>
        <p:nvSpPr>
          <p:cNvPr id="25" name="Proof number 5"/>
          <p:cNvSpPr txBox="1"/>
          <p:nvPr/>
        </p:nvSpPr>
        <p:spPr>
          <a:xfrm>
            <a:off x="7370064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</a:rPr>
              <a:t>5</a:t>
            </a:r>
            <a:endParaRPr lang="en-US" sz="1430" dirty="0"/>
          </a:p>
        </p:txBody>
      </p:sp>
      <p:sp>
        <p:nvSpPr>
          <p:cNvPr id="26" name="Proof head 5"/>
          <p:cNvSpPr txBox="1"/>
          <p:nvPr/>
        </p:nvSpPr>
        <p:spPr>
          <a:xfrm>
            <a:off x="7370064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You own it</a:t>
            </a:r>
            <a:endParaRPr lang="en-US" sz="1500" dirty="0"/>
          </a:p>
        </p:txBody>
      </p:sp>
      <p:sp>
        <p:nvSpPr>
          <p:cNvPr id="27" name="Proof body 5"/>
          <p:cNvSpPr txBox="1"/>
          <p:nvPr/>
        </p:nvSpPr>
        <p:spPr>
          <a:xfrm>
            <a:off x="7370064" y="2651760"/>
            <a:ext cx="1234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It runs in your accounts with your keys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Plain, calm, specific</a:t>
            </a:r>
            <a:endParaRPr lang="en-US" sz="3000" dirty="0"/>
          </a:p>
        </p:txBody>
      </p:sp>
      <p:sp>
        <p:nvSpPr>
          <p:cNvPr id="3" name="Voice head 0"/>
          <p:cNvSpPr txBox="1"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45"/>
                </a:solidFill>
              </a:rPr>
              <a:t>We say</a:t>
            </a:r>
            <a:endParaRPr lang="en-US" sz="1800" dirty="0"/>
          </a:p>
        </p:txBody>
      </p:sp>
      <p:sp>
        <p:nvSpPr>
          <p:cNvPr id="4" name="Voice card 0-0"/>
          <p:cNvSpPr/>
          <p:nvPr/>
        </p:nvSpPr>
        <p:spPr>
          <a:xfrm>
            <a:off x="457200" y="1554480"/>
            <a:ext cx="4023360" cy="621792"/>
          </a:xfrm>
          <a:prstGeom prst="roundRect">
            <a:avLst>
              <a:gd name="adj" fmla="val 20588"/>
            </a:avLst>
          </a:prstGeom>
          <a:solidFill>
            <a:srgbClr val="E4F9EE"/>
          </a:solidFill>
          <a:ln w="12700">
            <a:solidFill>
              <a:srgbClr val="E4F9EE"/>
            </a:solidFill>
            <a:prstDash val="solid"/>
          </a:ln>
        </p:spPr>
      </p:sp>
      <p:sp>
        <p:nvSpPr>
          <p:cNvPr id="5" name="Voice line 0-0"/>
          <p:cNvSpPr txBox="1"/>
          <p:nvPr/>
        </p:nvSpPr>
        <p:spPr>
          <a:xfrm>
            <a:off x="640080" y="15544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A2E20"/>
                </a:solidFill>
              </a:rPr>
              <a:t>“Built, tested, and running on sample data today.”</a:t>
            </a:r>
            <a:endParaRPr lang="en-US" sz="1400" dirty="0"/>
          </a:p>
        </p:txBody>
      </p:sp>
      <p:sp>
        <p:nvSpPr>
          <p:cNvPr id="6" name="Voice card 0-1"/>
          <p:cNvSpPr/>
          <p:nvPr/>
        </p:nvSpPr>
        <p:spPr>
          <a:xfrm>
            <a:off x="457200" y="2304288"/>
            <a:ext cx="4023360" cy="621792"/>
          </a:xfrm>
          <a:prstGeom prst="roundRect">
            <a:avLst>
              <a:gd name="adj" fmla="val 20588"/>
            </a:avLst>
          </a:prstGeom>
          <a:solidFill>
            <a:srgbClr val="E4F9EE"/>
          </a:solidFill>
          <a:ln w="12700">
            <a:solidFill>
              <a:srgbClr val="E4F9EE"/>
            </a:solidFill>
            <a:prstDash val="solid"/>
          </a:ln>
        </p:spPr>
      </p:sp>
      <p:sp>
        <p:nvSpPr>
          <p:cNvPr id="7" name="Voice line 0-1"/>
          <p:cNvSpPr txBox="1"/>
          <p:nvPr/>
        </p:nvSpPr>
        <p:spPr>
          <a:xfrm>
            <a:off x="640080" y="230428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A2E20"/>
                </a:solidFill>
              </a:rPr>
              <a:t>“Nothing is written or spent without a yes.”</a:t>
            </a:r>
            <a:endParaRPr lang="en-US" sz="1400" dirty="0"/>
          </a:p>
        </p:txBody>
      </p:sp>
      <p:sp>
        <p:nvSpPr>
          <p:cNvPr id="8" name="Voice card 0-2"/>
          <p:cNvSpPr/>
          <p:nvPr/>
        </p:nvSpPr>
        <p:spPr>
          <a:xfrm>
            <a:off x="457200" y="3054096"/>
            <a:ext cx="4023360" cy="621792"/>
          </a:xfrm>
          <a:prstGeom prst="roundRect">
            <a:avLst>
              <a:gd name="adj" fmla="val 20588"/>
            </a:avLst>
          </a:prstGeom>
          <a:solidFill>
            <a:srgbClr val="E4F9EE"/>
          </a:solidFill>
          <a:ln w="12700">
            <a:solidFill>
              <a:srgbClr val="E4F9EE"/>
            </a:solidFill>
            <a:prstDash val="solid"/>
          </a:ln>
        </p:spPr>
      </p:sp>
      <p:sp>
        <p:nvSpPr>
          <p:cNvPr id="9" name="Voice line 0-2"/>
          <p:cNvSpPr txBox="1"/>
          <p:nvPr/>
        </p:nvSpPr>
        <p:spPr>
          <a:xfrm>
            <a:off x="640080" y="305409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A2E20"/>
                </a:solidFill>
              </a:rPr>
              <a:t>“Your team sends emails and pays invoices.”</a:t>
            </a:r>
            <a:endParaRPr lang="en-US" sz="1400" dirty="0"/>
          </a:p>
        </p:txBody>
      </p:sp>
      <p:sp>
        <p:nvSpPr>
          <p:cNvPr id="10" name="Voice card 0-3"/>
          <p:cNvSpPr/>
          <p:nvPr/>
        </p:nvSpPr>
        <p:spPr>
          <a:xfrm>
            <a:off x="457200" y="3803904"/>
            <a:ext cx="4023360" cy="621792"/>
          </a:xfrm>
          <a:prstGeom prst="roundRect">
            <a:avLst>
              <a:gd name="adj" fmla="val 20588"/>
            </a:avLst>
          </a:prstGeom>
          <a:solidFill>
            <a:srgbClr val="E4F9EE"/>
          </a:solidFill>
          <a:ln w="12700">
            <a:solidFill>
              <a:srgbClr val="E4F9EE"/>
            </a:solidFill>
            <a:prstDash val="solid"/>
          </a:ln>
        </p:spPr>
      </p:sp>
      <p:sp>
        <p:nvSpPr>
          <p:cNvPr id="11" name="Voice line 0-3"/>
          <p:cNvSpPr txBox="1"/>
          <p:nvPr/>
        </p:nvSpPr>
        <p:spPr>
          <a:xfrm>
            <a:off x="640080" y="380390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400" dirty="0">
                <a:solidFill>
                  <a:srgbClr val="1A2E20"/>
                </a:solidFill>
              </a:rPr>
              <a:t>“Usually a few cents per record.”</a:t>
            </a:r>
            <a:endParaRPr lang="en-US" sz="1400" dirty="0"/>
          </a:p>
        </p:txBody>
      </p:sp>
      <p:sp>
        <p:nvSpPr>
          <p:cNvPr id="12" name="Voice head 1"/>
          <p:cNvSpPr txBox="1"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We never say</a:t>
            </a:r>
            <a:endParaRPr lang="en-US" sz="1800" dirty="0"/>
          </a:p>
        </p:txBody>
      </p:sp>
      <p:sp>
        <p:nvSpPr>
          <p:cNvPr id="13" name="Voice card 1-0"/>
          <p:cNvSpPr/>
          <p:nvPr/>
        </p:nvSpPr>
        <p:spPr>
          <a:xfrm>
            <a:off x="4663440" y="1554480"/>
            <a:ext cx="4023360" cy="621792"/>
          </a:xfrm>
          <a:prstGeom prst="roundRect">
            <a:avLst>
              <a:gd name="adj" fmla="val 20588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14" name="Voice line 1-0"/>
          <p:cNvSpPr txBox="1"/>
          <p:nvPr/>
        </p:nvSpPr>
        <p:spPr>
          <a:xfrm>
            <a:off x="4846320" y="155448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400" dirty="0">
                <a:solidFill>
                  <a:srgbClr val="1A2E20"/>
                </a:solidFill>
              </a:rPr>
              <a:t>“Revolutionary AI-powered solutions”</a:t>
            </a:r>
            <a:endParaRPr lang="en-US" sz="1400" dirty="0"/>
          </a:p>
        </p:txBody>
      </p:sp>
      <p:sp>
        <p:nvSpPr>
          <p:cNvPr id="15" name="Voice card 1-1"/>
          <p:cNvSpPr/>
          <p:nvPr/>
        </p:nvSpPr>
        <p:spPr>
          <a:xfrm>
            <a:off x="4663440" y="2304288"/>
            <a:ext cx="4023360" cy="621792"/>
          </a:xfrm>
          <a:prstGeom prst="roundRect">
            <a:avLst>
              <a:gd name="adj" fmla="val 20588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16" name="Voice line 1-1"/>
          <p:cNvSpPr txBox="1"/>
          <p:nvPr/>
        </p:nvSpPr>
        <p:spPr>
          <a:xfrm>
            <a:off x="4846320" y="230428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400" dirty="0">
                <a:solidFill>
                  <a:srgbClr val="1A2E20"/>
                </a:solidFill>
              </a:rPr>
              <a:t>“Fully autonomous, set it and forget it”</a:t>
            </a:r>
            <a:endParaRPr lang="en-US" sz="1400" dirty="0"/>
          </a:p>
        </p:txBody>
      </p:sp>
      <p:sp>
        <p:nvSpPr>
          <p:cNvPr id="17" name="Voice card 1-2"/>
          <p:cNvSpPr/>
          <p:nvPr/>
        </p:nvSpPr>
        <p:spPr>
          <a:xfrm>
            <a:off x="4663440" y="3054096"/>
            <a:ext cx="4023360" cy="621792"/>
          </a:xfrm>
          <a:prstGeom prst="roundRect">
            <a:avLst>
              <a:gd name="adj" fmla="val 20588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18" name="Voice line 1-2"/>
          <p:cNvSpPr txBox="1"/>
          <p:nvPr/>
        </p:nvSpPr>
        <p:spPr>
          <a:xfrm>
            <a:off x="4846320" y="305409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400" dirty="0">
                <a:solidFill>
                  <a:srgbClr val="1A2E20"/>
                </a:solidFill>
              </a:rPr>
              <a:t>“Replace your team with AI”</a:t>
            </a:r>
            <a:endParaRPr lang="en-US" sz="1400" dirty="0"/>
          </a:p>
        </p:txBody>
      </p:sp>
      <p:sp>
        <p:nvSpPr>
          <p:cNvPr id="19" name="Voice card 1-3"/>
          <p:cNvSpPr/>
          <p:nvPr/>
        </p:nvSpPr>
        <p:spPr>
          <a:xfrm>
            <a:off x="4663440" y="3803904"/>
            <a:ext cx="4023360" cy="621792"/>
          </a:xfrm>
          <a:prstGeom prst="roundRect">
            <a:avLst>
              <a:gd name="adj" fmla="val 20588"/>
            </a:avLst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20" name="Voice line 1-3"/>
          <p:cNvSpPr txBox="1"/>
          <p:nvPr/>
        </p:nvSpPr>
        <p:spPr>
          <a:xfrm>
            <a:off x="4846320" y="380390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400" dirty="0">
                <a:solidFill>
                  <a:srgbClr val="1A2E20"/>
                </a:solidFill>
              </a:rPr>
              <a:t>“Unlimited AI for one low price!”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writing rules</a:t>
            </a:r>
            <a:endParaRPr lang="en-US" sz="3000" dirty="0"/>
          </a:p>
        </p:txBody>
      </p:sp>
      <p:sp>
        <p:nvSpPr>
          <p:cNvPr id="3" name="Rule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4" name="Rule stat 1"/>
          <p:cNvSpPr txBox="1"/>
          <p:nvPr/>
        </p:nvSpPr>
        <p:spPr>
          <a:xfrm>
            <a:off x="68580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6EF5"/>
                </a:solidFill>
              </a:rPr>
              <a:t>&lt; 25</a:t>
            </a:r>
            <a:endParaRPr lang="en-US" sz="3800" dirty="0"/>
          </a:p>
        </p:txBody>
      </p:sp>
      <p:sp>
        <p:nvSpPr>
          <p:cNvPr id="5" name="Rule label 1"/>
          <p:cNvSpPr txBox="1"/>
          <p:nvPr/>
        </p:nvSpPr>
        <p:spPr>
          <a:xfrm>
            <a:off x="2057400" y="1435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words per sentence</a:t>
            </a:r>
            <a:endParaRPr lang="en-US" sz="1500" dirty="0"/>
          </a:p>
        </p:txBody>
      </p:sp>
      <p:sp>
        <p:nvSpPr>
          <p:cNvPr id="6" name="Rule body 1"/>
          <p:cNvSpPr txBox="1"/>
          <p:nvPr/>
        </p:nvSpPr>
        <p:spPr>
          <a:xfrm>
            <a:off x="685800" y="2057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65"/>
                </a:solidFill>
              </a:rPr>
              <a:t>Lead with the task and the outcome, then the technology.</a:t>
            </a:r>
            <a:endParaRPr lang="en-US" sz="1300" dirty="0"/>
          </a:p>
        </p:txBody>
      </p:sp>
      <p:sp>
        <p:nvSpPr>
          <p:cNvPr id="7" name="Rule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8" name="Rule stat 2"/>
          <p:cNvSpPr txBox="1"/>
          <p:nvPr/>
        </p:nvSpPr>
        <p:spPr>
          <a:xfrm>
            <a:off x="4892040" y="1325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6EF5"/>
                </a:solidFill>
              </a:rPr>
              <a:t>#</a:t>
            </a:r>
            <a:endParaRPr lang="en-US" sz="3800" dirty="0"/>
          </a:p>
        </p:txBody>
      </p:sp>
      <p:sp>
        <p:nvSpPr>
          <p:cNvPr id="9" name="Rule label 2"/>
          <p:cNvSpPr txBox="1"/>
          <p:nvPr/>
        </p:nvSpPr>
        <p:spPr>
          <a:xfrm>
            <a:off x="6263640" y="1435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numbers, names, dates</a:t>
            </a:r>
            <a:endParaRPr lang="en-US" sz="1500" dirty="0"/>
          </a:p>
        </p:txBody>
      </p:sp>
      <p:sp>
        <p:nvSpPr>
          <p:cNvPr id="10" name="Rule body 2"/>
          <p:cNvSpPr txBox="1"/>
          <p:nvPr/>
        </p:nvSpPr>
        <p:spPr>
          <a:xfrm>
            <a:off x="4892040" y="20574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65"/>
                </a:solidFill>
              </a:rPr>
              <a:t>Specifics instead of adjectives like seamless or cutting-edge.</a:t>
            </a:r>
            <a:endParaRPr lang="en-US" sz="1300" dirty="0"/>
          </a:p>
        </p:txBody>
      </p:sp>
      <p:sp>
        <p:nvSpPr>
          <p:cNvPr id="11" name="Rule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12" name="Rule stat 3"/>
          <p:cNvSpPr txBox="1"/>
          <p:nvPr/>
        </p:nvSpPr>
        <p:spPr>
          <a:xfrm>
            <a:off x="685800" y="3017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6EF5"/>
                </a:solidFill>
              </a:rPr>
              <a:t>0</a:t>
            </a:r>
            <a:endParaRPr lang="en-US" sz="3800" dirty="0"/>
          </a:p>
        </p:txBody>
      </p:sp>
      <p:sp>
        <p:nvSpPr>
          <p:cNvPr id="13" name="Rule label 3"/>
          <p:cNvSpPr txBox="1"/>
          <p:nvPr/>
        </p:nvSpPr>
        <p:spPr>
          <a:xfrm>
            <a:off x="2057400" y="3127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unmeasured claims</a:t>
            </a:r>
            <a:endParaRPr lang="en-US" sz="1500" dirty="0"/>
          </a:p>
        </p:txBody>
      </p:sp>
      <p:sp>
        <p:nvSpPr>
          <p:cNvPr id="14" name="Rule body 3"/>
          <p:cNvSpPr txBox="1"/>
          <p:nvPr/>
        </p:nvSpPr>
        <p:spPr>
          <a:xfrm>
            <a:off x="685800" y="3749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65"/>
                </a:solidFill>
              </a:rPr>
              <a:t>Real numbers and quotes only, with the client's permission.</a:t>
            </a:r>
            <a:endParaRPr lang="en-US" sz="1300" dirty="0"/>
          </a:p>
        </p:txBody>
      </p:sp>
      <p:sp>
        <p:nvSpPr>
          <p:cNvPr id="15" name="Rule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16" name="Rule stat 4"/>
          <p:cNvSpPr txBox="1"/>
          <p:nvPr/>
        </p:nvSpPr>
        <p:spPr>
          <a:xfrm>
            <a:off x="4892040" y="3017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6EF5"/>
                </a:solidFill>
              </a:rPr>
              <a:t>you</a:t>
            </a:r>
            <a:endParaRPr lang="en-US" sz="3800" dirty="0"/>
          </a:p>
        </p:txBody>
      </p:sp>
      <p:sp>
        <p:nvSpPr>
          <p:cNvPr id="17" name="Rule label 4"/>
          <p:cNvSpPr txBox="1"/>
          <p:nvPr/>
        </p:nvSpPr>
        <p:spPr>
          <a:xfrm>
            <a:off x="6263640" y="3127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second person, active</a:t>
            </a:r>
            <a:endParaRPr lang="en-US" sz="1500" dirty="0"/>
          </a:p>
        </p:txBody>
      </p:sp>
      <p:sp>
        <p:nvSpPr>
          <p:cNvPr id="18" name="Rule body 4"/>
          <p:cNvSpPr txBox="1"/>
          <p:nvPr/>
        </p:nvSpPr>
        <p:spPr>
          <a:xfrm>
            <a:off x="4892040" y="37490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65"/>
                </a:solidFill>
              </a:rPr>
              <a:t>“Your team”, active voice, US English.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Show the work: the five-step diagram</a:t>
            </a:r>
            <a:endParaRPr lang="en-US" sz="3000" dirty="0"/>
          </a:p>
        </p:txBody>
      </p:sp>
      <p:sp>
        <p:nvSpPr>
          <p:cNvPr id="3" name="Step Pull"/>
          <p:cNvSpPr/>
          <p:nvPr/>
        </p:nvSpPr>
        <p:spPr>
          <a:xfrm>
            <a:off x="457200" y="1188720"/>
            <a:ext cx="1481328" cy="192024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4" name="Step icon Pull square" descr="/home/claude/word/brand/icon_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457200" cy="457200"/>
          </a:xfrm>
          <a:prstGeom prst="rect">
            <a:avLst/>
          </a:prstGeom>
        </p:spPr>
      </p:pic>
      <p:sp>
        <p:nvSpPr>
          <p:cNvPr id="5" name="Step icon Pull"/>
          <p:cNvSpPr txBox="1"/>
          <p:nvPr/>
        </p:nvSpPr>
        <p:spPr>
          <a:xfrm>
            <a:off x="62179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🔌</a:t>
            </a:r>
            <a:endParaRPr lang="en-US" sz="1300" dirty="0"/>
          </a:p>
        </p:txBody>
      </p:sp>
      <p:sp>
        <p:nvSpPr>
          <p:cNvPr id="6" name="Step head Pull"/>
          <p:cNvSpPr txBox="1"/>
          <p:nvPr/>
        </p:nvSpPr>
        <p:spPr>
          <a:xfrm>
            <a:off x="621792" y="1920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Pull</a:t>
            </a:r>
            <a:endParaRPr lang="en-US" sz="1500" dirty="0"/>
          </a:p>
        </p:txBody>
      </p:sp>
      <p:sp>
        <p:nvSpPr>
          <p:cNvPr id="7" name="Step body Pull"/>
          <p:cNvSpPr txBox="1"/>
          <p:nvPr/>
        </p:nvSpPr>
        <p:spPr>
          <a:xfrm>
            <a:off x="621792" y="2331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data from tools you pay for</a:t>
            </a:r>
            <a:endParaRPr lang="en-US" sz="1200" dirty="0"/>
          </a:p>
        </p:txBody>
      </p:sp>
      <p:sp>
        <p:nvSpPr>
          <p:cNvPr id="8" name="Arrow 1"/>
          <p:cNvSpPr/>
          <p:nvPr/>
        </p:nvSpPr>
        <p:spPr>
          <a:xfrm>
            <a:off x="1956816" y="2148840"/>
            <a:ext cx="182880" cy="0"/>
          </a:xfrm>
          <a:prstGeom prst="line">
            <a:avLst/>
          </a:prstGeom>
          <a:noFill/>
          <a:ln w="19050">
            <a:solidFill>
              <a:srgbClr val="3EC9C9"/>
            </a:solidFill>
            <a:prstDash val="solid"/>
            <a:tailEnd type="triangle"/>
          </a:ln>
        </p:spPr>
      </p:sp>
      <p:sp>
        <p:nvSpPr>
          <p:cNvPr id="9" name="Step Think"/>
          <p:cNvSpPr/>
          <p:nvPr/>
        </p:nvSpPr>
        <p:spPr>
          <a:xfrm>
            <a:off x="2157984" y="1188720"/>
            <a:ext cx="1481328" cy="192024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10" name="Step icon Think square" descr="/home/claude/word/brand/icon_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1371600"/>
            <a:ext cx="457200" cy="457200"/>
          </a:xfrm>
          <a:prstGeom prst="rect">
            <a:avLst/>
          </a:prstGeom>
        </p:spPr>
      </p:pic>
      <p:sp>
        <p:nvSpPr>
          <p:cNvPr id="11" name="Step icon Think"/>
          <p:cNvSpPr txBox="1"/>
          <p:nvPr/>
        </p:nvSpPr>
        <p:spPr>
          <a:xfrm>
            <a:off x="232257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🧠</a:t>
            </a:r>
            <a:endParaRPr lang="en-US" sz="1300" dirty="0"/>
          </a:p>
        </p:txBody>
      </p:sp>
      <p:sp>
        <p:nvSpPr>
          <p:cNvPr id="12" name="Step head Think"/>
          <p:cNvSpPr txBox="1"/>
          <p:nvPr/>
        </p:nvSpPr>
        <p:spPr>
          <a:xfrm>
            <a:off x="2322576" y="1920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Think</a:t>
            </a:r>
            <a:endParaRPr lang="en-US" sz="1500" dirty="0"/>
          </a:p>
        </p:txBody>
      </p:sp>
      <p:sp>
        <p:nvSpPr>
          <p:cNvPr id="13" name="Step body Think"/>
          <p:cNvSpPr txBox="1"/>
          <p:nvPr/>
        </p:nvSpPr>
        <p:spPr>
          <a:xfrm>
            <a:off x="2322576" y="2331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AI does the judgment work</a:t>
            </a:r>
            <a:endParaRPr lang="en-US" sz="1200" dirty="0"/>
          </a:p>
        </p:txBody>
      </p:sp>
      <p:sp>
        <p:nvSpPr>
          <p:cNvPr id="14" name="Arrow 2"/>
          <p:cNvSpPr/>
          <p:nvPr/>
        </p:nvSpPr>
        <p:spPr>
          <a:xfrm>
            <a:off x="3657600" y="2148840"/>
            <a:ext cx="182880" cy="0"/>
          </a:xfrm>
          <a:prstGeom prst="line">
            <a:avLst/>
          </a:prstGeom>
          <a:noFill/>
          <a:ln w="19050">
            <a:solidFill>
              <a:srgbClr val="3EC9C9"/>
            </a:solidFill>
            <a:prstDash val="solid"/>
            <a:tailEnd type="triangle"/>
          </a:ln>
        </p:spPr>
      </p:sp>
      <p:sp>
        <p:nvSpPr>
          <p:cNvPr id="15" name="Step Check"/>
          <p:cNvSpPr/>
          <p:nvPr/>
        </p:nvSpPr>
        <p:spPr>
          <a:xfrm>
            <a:off x="3858768" y="1188720"/>
            <a:ext cx="1481328" cy="192024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16" name="Step icon Check square" descr="/home/claude/word/brand/icon_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71600"/>
            <a:ext cx="457200" cy="457200"/>
          </a:xfrm>
          <a:prstGeom prst="rect">
            <a:avLst/>
          </a:prstGeom>
        </p:spPr>
      </p:pic>
      <p:sp>
        <p:nvSpPr>
          <p:cNvPr id="17" name="Step icon Check"/>
          <p:cNvSpPr txBox="1"/>
          <p:nvPr/>
        </p:nvSpPr>
        <p:spPr>
          <a:xfrm>
            <a:off x="4023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</a:t>
            </a:r>
            <a:endParaRPr lang="en-US" sz="1300" dirty="0"/>
          </a:p>
        </p:txBody>
      </p:sp>
      <p:sp>
        <p:nvSpPr>
          <p:cNvPr id="18" name="Step head Check"/>
          <p:cNvSpPr txBox="1"/>
          <p:nvPr/>
        </p:nvSpPr>
        <p:spPr>
          <a:xfrm>
            <a:off x="4023360" y="1920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Check</a:t>
            </a:r>
            <a:endParaRPr lang="en-US" sz="1500" dirty="0"/>
          </a:p>
        </p:txBody>
      </p:sp>
      <p:sp>
        <p:nvSpPr>
          <p:cNvPr id="19" name="Step body Check"/>
          <p:cNvSpPr txBox="1"/>
          <p:nvPr/>
        </p:nvSpPr>
        <p:spPr>
          <a:xfrm>
            <a:off x="4023360" y="2331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rules catch AI mistakes</a:t>
            </a:r>
            <a:endParaRPr lang="en-US" sz="1200" dirty="0"/>
          </a:p>
        </p:txBody>
      </p:sp>
      <p:sp>
        <p:nvSpPr>
          <p:cNvPr id="20" name="Arrow 3"/>
          <p:cNvSpPr/>
          <p:nvPr/>
        </p:nvSpPr>
        <p:spPr>
          <a:xfrm>
            <a:off x="5358384" y="2148840"/>
            <a:ext cx="182880" cy="0"/>
          </a:xfrm>
          <a:prstGeom prst="line">
            <a:avLst/>
          </a:prstGeom>
          <a:noFill/>
          <a:ln w="19050">
            <a:solidFill>
              <a:srgbClr val="3EC9C9"/>
            </a:solidFill>
            <a:prstDash val="solid"/>
            <a:tailEnd type="triangle"/>
          </a:ln>
        </p:spPr>
      </p:sp>
      <p:sp>
        <p:nvSpPr>
          <p:cNvPr id="21" name="Step Write back"/>
          <p:cNvSpPr/>
          <p:nvPr/>
        </p:nvSpPr>
        <p:spPr>
          <a:xfrm>
            <a:off x="5559552" y="1188720"/>
            <a:ext cx="1481328" cy="192024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22" name="Step icon Write back square" descr="/home/claude/word/brand/icon_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44" y="1371600"/>
            <a:ext cx="457200" cy="457200"/>
          </a:xfrm>
          <a:prstGeom prst="rect">
            <a:avLst/>
          </a:prstGeom>
        </p:spPr>
      </p:pic>
      <p:sp>
        <p:nvSpPr>
          <p:cNvPr id="23" name="Step icon Write back"/>
          <p:cNvSpPr txBox="1"/>
          <p:nvPr/>
        </p:nvSpPr>
        <p:spPr>
          <a:xfrm>
            <a:off x="572414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</a:t>
            </a:r>
            <a:endParaRPr lang="en-US" sz="1300" dirty="0"/>
          </a:p>
        </p:txBody>
      </p:sp>
      <p:sp>
        <p:nvSpPr>
          <p:cNvPr id="24" name="Step head Write back"/>
          <p:cNvSpPr txBox="1"/>
          <p:nvPr/>
        </p:nvSpPr>
        <p:spPr>
          <a:xfrm>
            <a:off x="5724144" y="1920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Write back</a:t>
            </a:r>
            <a:endParaRPr lang="en-US" sz="1500" dirty="0"/>
          </a:p>
        </p:txBody>
      </p:sp>
      <p:sp>
        <p:nvSpPr>
          <p:cNvPr id="25" name="Step body Write back"/>
          <p:cNvSpPr txBox="1"/>
          <p:nvPr/>
        </p:nvSpPr>
        <p:spPr>
          <a:xfrm>
            <a:off x="5724144" y="2331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results where you work</a:t>
            </a:r>
            <a:endParaRPr lang="en-US" sz="1200" dirty="0"/>
          </a:p>
        </p:txBody>
      </p:sp>
      <p:sp>
        <p:nvSpPr>
          <p:cNvPr id="26" name="Arrow 4"/>
          <p:cNvSpPr/>
          <p:nvPr/>
        </p:nvSpPr>
        <p:spPr>
          <a:xfrm>
            <a:off x="7059168" y="2148840"/>
            <a:ext cx="182880" cy="0"/>
          </a:xfrm>
          <a:prstGeom prst="line">
            <a:avLst/>
          </a:prstGeom>
          <a:noFill/>
          <a:ln w="19050">
            <a:solidFill>
              <a:srgbClr val="3EC9C9"/>
            </a:solidFill>
            <a:prstDash val="solid"/>
            <a:tailEnd type="triangle"/>
          </a:ln>
        </p:spPr>
      </p:sp>
      <p:sp>
        <p:nvSpPr>
          <p:cNvPr id="27" name="Step Show and ask"/>
          <p:cNvSpPr/>
          <p:nvPr/>
        </p:nvSpPr>
        <p:spPr>
          <a:xfrm>
            <a:off x="7260336" y="1188720"/>
            <a:ext cx="1481328" cy="192024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pic>
        <p:nvPicPr>
          <p:cNvPr id="28" name="Step icon Show and ask square" descr="/home/claude/word/brand/icon_squ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1371600"/>
            <a:ext cx="457200" cy="457200"/>
          </a:xfrm>
          <a:prstGeom prst="rect">
            <a:avLst/>
          </a:prstGeom>
        </p:spPr>
      </p:pic>
      <p:sp>
        <p:nvSpPr>
          <p:cNvPr id="29" name="Step icon Show and ask"/>
          <p:cNvSpPr txBox="1"/>
          <p:nvPr/>
        </p:nvSpPr>
        <p:spPr>
          <a:xfrm>
            <a:off x="742492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👀</a:t>
            </a:r>
            <a:endParaRPr lang="en-US" sz="1300" dirty="0"/>
          </a:p>
        </p:txBody>
      </p:sp>
      <p:sp>
        <p:nvSpPr>
          <p:cNvPr id="30" name="Step head Show and ask"/>
          <p:cNvSpPr txBox="1"/>
          <p:nvPr/>
        </p:nvSpPr>
        <p:spPr>
          <a:xfrm>
            <a:off x="7424928" y="19202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Show and ask</a:t>
            </a:r>
            <a:endParaRPr lang="en-US" sz="1500" dirty="0"/>
          </a:p>
        </p:txBody>
      </p:sp>
      <p:sp>
        <p:nvSpPr>
          <p:cNvPr id="31" name="Step body Show and ask"/>
          <p:cNvSpPr txBox="1"/>
          <p:nvPr/>
        </p:nvSpPr>
        <p:spPr>
          <a:xfrm>
            <a:off x="7424928" y="233172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a dashboard and a yes</a:t>
            </a:r>
            <a:endParaRPr lang="en-US" sz="1200" dirty="0"/>
          </a:p>
        </p:txBody>
      </p:sp>
      <p:sp>
        <p:nvSpPr>
          <p:cNvPr id="32" name="Imagery rule 1"/>
          <p:cNvSpPr txBox="1"/>
          <p:nvPr/>
        </p:nvSpPr>
        <p:spPr>
          <a:xfrm>
            <a:off x="457200" y="3383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2E20"/>
                </a:solidFill>
              </a:rPr>
              <a:t>Dashboards, before-and-after tables, this diagram</a:t>
            </a:r>
            <a:endParaRPr lang="en-US" sz="1300" dirty="0"/>
          </a:p>
        </p:txBody>
      </p:sp>
      <p:sp>
        <p:nvSpPr>
          <p:cNvPr id="33" name="Imagery rule 2"/>
          <p:cNvSpPr txBox="1"/>
          <p:nvPr/>
        </p:nvSpPr>
        <p:spPr>
          <a:xfrm>
            <a:off x="4663440" y="3383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2E20"/>
                </a:solidFill>
              </a:rPr>
              <a:t>Gradient banners with the dot pattern</a:t>
            </a:r>
            <a:endParaRPr lang="en-US" sz="1300" dirty="0"/>
          </a:p>
        </p:txBody>
      </p:sp>
      <p:sp>
        <p:nvSpPr>
          <p:cNvPr id="34" name="Imagery rule 3"/>
          <p:cNvSpPr txBox="1"/>
          <p:nvPr/>
        </p:nvSpPr>
        <p:spPr>
          <a:xfrm>
            <a:off x="457200" y="3886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5"/>
                </a:solidFill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2E20"/>
                </a:solidFill>
              </a:rPr>
              <a:t>Label samples: “Sample data. Companies shown are fictional.”</a:t>
            </a:r>
            <a:endParaRPr lang="en-US" sz="1300" dirty="0"/>
          </a:p>
        </p:txBody>
      </p:sp>
      <p:sp>
        <p:nvSpPr>
          <p:cNvPr id="35" name="Imagery rule 4"/>
          <p:cNvSpPr txBox="1"/>
          <p:nvPr/>
        </p:nvSpPr>
        <p:spPr>
          <a:xfrm>
            <a:off x="4663440" y="3886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✕  </a:t>
            </a:r>
            <a:pPr indent="0" marL="0">
              <a:buNone/>
            </a:pPr>
            <a:r>
              <a:rPr lang="en-US" sz="1300" dirty="0">
                <a:solidFill>
                  <a:srgbClr val="1A2E20"/>
                </a:solidFill>
              </a:rPr>
              <a:t>Stock robots, glowing brains, circuit boards, people pointing at screens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Name agents by the job they do</a:t>
            </a:r>
            <a:endParaRPr lang="en-US" sz="3000" dirty="0"/>
          </a:p>
        </p:txBody>
      </p:sp>
      <p:sp>
        <p:nvSpPr>
          <p:cNvPr id="3" name="Naming card"/>
          <p:cNvSpPr/>
          <p:nvPr/>
        </p:nvSpPr>
        <p:spPr>
          <a:xfrm>
            <a:off x="457200" y="1143000"/>
            <a:ext cx="4023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4" name="Naming head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6EF5"/>
                </a:solidFill>
              </a:rPr>
              <a:t>Function + noun</a:t>
            </a:r>
            <a:endParaRPr lang="en-US" sz="1600" dirty="0"/>
          </a:p>
        </p:txBody>
      </p:sp>
      <p:sp>
        <p:nvSpPr>
          <p:cNvPr id="5" name="Naming examples"/>
          <p:cNvSpPr txBox="1"/>
          <p:nvPr/>
        </p:nvSpPr>
        <p:spPr>
          <a:xfrm>
            <a:off x="685800" y="17373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D1B2A"/>
                </a:solidFill>
              </a:rPr>
              <a:t>Signal Prospector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D1B2A"/>
                </a:solidFill>
              </a:rPr>
              <a:t>Renewal Risk Radar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D1B2A"/>
                </a:solidFill>
              </a:rPr>
              <a:t>Invoice Checker</a:t>
            </a:r>
            <a:endParaRPr lang="en-US" sz="1800" dirty="0"/>
          </a:p>
        </p:txBody>
      </p:sp>
      <p:sp>
        <p:nvSpPr>
          <p:cNvPr id="6" name="Naming rules"/>
          <p:cNvSpPr txBox="1"/>
          <p:nvPr/>
        </p:nvSpPr>
        <p:spPr>
          <a:xfrm>
            <a:off x="685800" y="31089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65"/>
                </a:solidFill>
              </a:rPr>
              <a:t>No made-up words, no “-ify”, no “GPT” in names. Start copy with the job: “Signal Prospector finds…”</a:t>
            </a:r>
            <a:endParaRPr lang="en-US" sz="1300" dirty="0"/>
          </a:p>
        </p:txBody>
      </p:sp>
      <p:sp>
        <p:nvSpPr>
          <p:cNvPr id="7" name="Docs head"/>
          <p:cNvSpPr txBox="1"/>
          <p:nvPr/>
        </p:nvSpPr>
        <p:spPr>
          <a:xfrm>
            <a:off x="475488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Deliverables</a:t>
            </a:r>
            <a:endParaRPr lang="en-US" sz="1600" dirty="0"/>
          </a:p>
        </p:txBody>
      </p:sp>
      <p:sp>
        <p:nvSpPr>
          <p:cNvPr id="8" name="Docs rules"/>
          <p:cNvSpPr txBox="1"/>
          <p:nvPr/>
        </p:nvSpPr>
        <p:spPr>
          <a:xfrm>
            <a:off x="4754880" y="15544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E20"/>
                </a:solidFill>
              </a:rPr>
              <a:t>Title pages: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E20"/>
                </a:solidFill>
              </a:rPr>
              <a:t>white wordmark on the gradient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E20"/>
                </a:solidFill>
              </a:rPr>
              <a:t>Tables: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E20"/>
                </a:solidFill>
              </a:rPr>
              <a:t>navy header, mint rows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2E20"/>
                </a:solidFill>
              </a:rPr>
              <a:t>Files: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E20"/>
                </a:solidFill>
              </a:rPr>
              <a:t>client-agent-vN.zip</a:t>
            </a:r>
            <a:endParaRPr lang="en-US" sz="1300" dirty="0"/>
          </a:p>
        </p:txBody>
      </p:sp>
      <p:sp>
        <p:nvSpPr>
          <p:cNvPr id="9" name="Signature card"/>
          <p:cNvSpPr/>
          <p:nvPr/>
        </p:nvSpPr>
        <p:spPr>
          <a:xfrm>
            <a:off x="4754880" y="2834640"/>
            <a:ext cx="39319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F5F5"/>
            </a:solidFill>
            <a:prstDash val="solid"/>
          </a:ln>
        </p:spPr>
      </p:sp>
      <p:sp>
        <p:nvSpPr>
          <p:cNvPr id="10" name="Signature"/>
          <p:cNvSpPr txBox="1"/>
          <p:nvPr/>
        </p:nvSpPr>
        <p:spPr>
          <a:xfrm>
            <a:off x="4937760" y="297180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[Founder Name]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7A65"/>
                </a:solidFill>
              </a:rPr>
              <a:t>Founder, PlAIceholder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7A65"/>
                </a:solidFill>
              </a:rPr>
              <a:t>AI agents that do the busywork inside the tools you already use.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6EF5"/>
                </a:solidFill>
              </a:rPr>
              <a:t>plaiceholder.io  ·  [Booking Link]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7A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wordmark" descr="PlAIceholder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3108960" cy="403013"/>
          </a:xfrm>
          <a:prstGeom prst="rect">
            <a:avLst/>
          </a:prstGeom>
        </p:spPr>
      </p:pic>
      <p:sp>
        <p:nvSpPr>
          <p:cNvPr id="3" name="Closing title"/>
          <p:cNvSpPr txBox="1"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Installed. Tuned. Proven.</a:t>
            </a:r>
            <a:endParaRPr lang="en-US" sz="4000" dirty="0"/>
          </a:p>
        </p:txBody>
      </p:sp>
      <p:sp>
        <p:nvSpPr>
          <p:cNvPr id="4" name="Closing url"/>
          <p:cNvSpPr txBox="1"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plaiceholder.io</a:t>
            </a:r>
            <a:endParaRPr lang="en-US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Iceholder">
  <a:themeElements>
    <a:clrScheme name="PlAIceholder">
      <a:dk1>
        <a:srgbClr val="1A2E20"/>
      </a:dk1>
      <a:lt1>
        <a:srgbClr val="FFFFFF"/>
      </a:lt1>
      <a:dk2>
        <a:srgbClr val="0D1B2A"/>
      </a:dk2>
      <a:lt2>
        <a:srgbClr val="F4FDF8"/>
      </a:lt2>
      <a:accent1>
        <a:srgbClr val="1A6EF5"/>
      </a:accent1>
      <a:accent2>
        <a:srgbClr val="3EC9C9"/>
      </a:accent2>
      <a:accent3>
        <a:srgbClr val="2ECC71"/>
      </a:accent3>
      <a:accent4>
        <a:srgbClr val="1A3A5C"/>
      </a:accent4>
      <a:accent5>
        <a:srgbClr val="5A7A65"/>
      </a:accent5>
      <a:accent6>
        <a:srgbClr val="1A7A45"/>
      </a:accent6>
      <a:hlink>
        <a:srgbClr val="1A6EF5"/>
      </a:hlink>
      <a:folHlink>
        <a:srgbClr val="5A7A65"/>
      </a:folHlink>
    </a:clrScheme>
    <a:fontScheme name="PlAIceholder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PlAIceholder Brand Guide</dc:title>
  <dc:subject>PptxGenJS Presentation</dc:subject>
  <dc:creator>PlAIceholder</dc:creator>
  <cp:lastModifiedBy>PlAIceholder</cp:lastModifiedBy>
  <cp:revision>1</cp:revision>
  <dcterms:created xsi:type="dcterms:W3CDTF">2026-10-31T03:54:02Z</dcterms:created>
  <dcterms:modified xsi:type="dcterms:W3CDTF">2026-10-31T03:54:02Z</dcterms:modified>
</cp:coreProperties>
</file>